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44902b91574d71" /><Relationship Type="http://schemas.openxmlformats.org/officeDocument/2006/relationships/extended-properties" Target="/docProps/app.xml" Id="Rfc43abf02ceb4af7" /><Relationship Type="http://schemas.openxmlformats.org/officeDocument/2006/relationships/officeDocument" Target="/ppt/presentation.xml" Id="Rb14cf2967d7c4b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a90652af98496b"/>
  </p:sldMasterIdLst>
  <p:notesMasterIdLst>
    <p:notesMasterId xmlns:r="http://schemas.openxmlformats.org/officeDocument/2006/relationships" r:id="Ra6764bf1d5ff43df"/>
  </p:notesMasterIdLst>
  <p:sldIdLst>
    <p:sldId xmlns:r="http://schemas.openxmlformats.org/officeDocument/2006/relationships" id="256" r:id="R683bfb52afa14f7f"/>
    <p:sldId xmlns:r="http://schemas.openxmlformats.org/officeDocument/2006/relationships" id="257" r:id="R3d6481428aad428a"/>
    <p:sldId xmlns:r="http://schemas.openxmlformats.org/officeDocument/2006/relationships" id="258" r:id="Rfd276b0988ab406d"/>
    <p:sldId xmlns:r="http://schemas.openxmlformats.org/officeDocument/2006/relationships" id="259" r:id="R3d5406828a6244f7"/>
    <p:sldId xmlns:r="http://schemas.openxmlformats.org/officeDocument/2006/relationships" id="260" r:id="R343c3c7344eb4e8b"/>
    <p:sldId xmlns:r="http://schemas.openxmlformats.org/officeDocument/2006/relationships" id="261" r:id="Reb18a41fd1d34c16"/>
    <p:sldId xmlns:r="http://schemas.openxmlformats.org/officeDocument/2006/relationships" id="262" r:id="R56c340e45ef2429c"/>
    <p:sldId xmlns:r="http://schemas.openxmlformats.org/officeDocument/2006/relationships" id="263" r:id="Rc6ad3e892f224371"/>
    <p:sldId xmlns:r="http://schemas.openxmlformats.org/officeDocument/2006/relationships" id="264" r:id="Rd1822b7b1b574820"/>
    <p:sldId xmlns:r="http://schemas.openxmlformats.org/officeDocument/2006/relationships" id="265" r:id="Rc613dbfee9c2495d"/>
    <p:sldId xmlns:r="http://schemas.openxmlformats.org/officeDocument/2006/relationships" id="266" r:id="Raded5f194edf467b"/>
    <p:sldId xmlns:r="http://schemas.openxmlformats.org/officeDocument/2006/relationships" id="267" r:id="Rbe25f7d280174250"/>
    <p:sldId xmlns:r="http://schemas.openxmlformats.org/officeDocument/2006/relationships" id="268" r:id="R6218e395e8a64e27"/>
    <p:sldId xmlns:r="http://schemas.openxmlformats.org/officeDocument/2006/relationships" id="269" r:id="R476d5aa3cbf94d55"/>
    <p:sldId xmlns:r="http://schemas.openxmlformats.org/officeDocument/2006/relationships" id="270" r:id="Rcb9e54d6547747b3"/>
    <p:sldId xmlns:r="http://schemas.openxmlformats.org/officeDocument/2006/relationships" id="271" r:id="Rcd312ef2711c4993"/>
    <p:sldId xmlns:r="http://schemas.openxmlformats.org/officeDocument/2006/relationships" id="272" r:id="Reade31ce5af646e7"/>
    <p:sldId xmlns:r="http://schemas.openxmlformats.org/officeDocument/2006/relationships" id="273" r:id="R960b023197904faf"/>
    <p:sldId xmlns:r="http://schemas.openxmlformats.org/officeDocument/2006/relationships" id="274" r:id="R20e6658f22ba4fcc"/>
    <p:sldId xmlns:r="http://schemas.openxmlformats.org/officeDocument/2006/relationships" id="275" r:id="R5d67041b401e49f7"/>
    <p:sldId xmlns:r="http://schemas.openxmlformats.org/officeDocument/2006/relationships" id="276" r:id="R0057b42f5d4840f3"/>
    <p:sldId xmlns:r="http://schemas.openxmlformats.org/officeDocument/2006/relationships" id="277" r:id="Rdc620437b1ba4e8b"/>
    <p:sldId xmlns:r="http://schemas.openxmlformats.org/officeDocument/2006/relationships" id="278" r:id="Rb96c7761bee94fba"/>
    <p:sldId xmlns:r="http://schemas.openxmlformats.org/officeDocument/2006/relationships" id="279" r:id="R330b5891bcb24710"/>
    <p:sldId xmlns:r="http://schemas.openxmlformats.org/officeDocument/2006/relationships" id="280" r:id="Rcd8ab5040f504e4e"/>
    <p:sldId xmlns:r="http://schemas.openxmlformats.org/officeDocument/2006/relationships" id="281" r:id="R8d20ef08cc324ce1"/>
    <p:sldId xmlns:r="http://schemas.openxmlformats.org/officeDocument/2006/relationships" id="282" r:id="R8d5d148db52d45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e819137e1c4bf1" /><Relationship Type="http://schemas.openxmlformats.org/officeDocument/2006/relationships/slideMaster" Target="/ppt/slideMasters/slideMaster1.xml" Id="R18a90652af98496b" /><Relationship Type="http://schemas.openxmlformats.org/officeDocument/2006/relationships/notesMaster" Target="/ppt/notesMasters/notesMaster1.xml" Id="Ra6764bf1d5ff43df" /><Relationship Type="http://schemas.openxmlformats.org/officeDocument/2006/relationships/presProps" Target="/ppt/presProps.xml" Id="Rf2e8de1f593a4885" /><Relationship Type="http://schemas.openxmlformats.org/officeDocument/2006/relationships/tableStyles" Target="/ppt/tableStyles.xml" Id="R7487075ed9e2433f" /><Relationship Type="http://schemas.openxmlformats.org/officeDocument/2006/relationships/slide" Target="/ppt/slides/slide1.xml" Id="R683bfb52afa14f7f" /><Relationship Type="http://schemas.openxmlformats.org/officeDocument/2006/relationships/slide" Target="/ppt/slides/slide2.xml" Id="R3d6481428aad428a" /><Relationship Type="http://schemas.openxmlformats.org/officeDocument/2006/relationships/slide" Target="/ppt/slides/slide3.xml" Id="Rfd276b0988ab406d" /><Relationship Type="http://schemas.openxmlformats.org/officeDocument/2006/relationships/slide" Target="/ppt/slides/slide4.xml" Id="R3d5406828a6244f7" /><Relationship Type="http://schemas.openxmlformats.org/officeDocument/2006/relationships/slide" Target="/ppt/slides/slide5.xml" Id="R343c3c7344eb4e8b" /><Relationship Type="http://schemas.openxmlformats.org/officeDocument/2006/relationships/slide" Target="/ppt/slides/slide6.xml" Id="Reb18a41fd1d34c16" /><Relationship Type="http://schemas.openxmlformats.org/officeDocument/2006/relationships/slide" Target="/ppt/slides/slide7.xml" Id="R56c340e45ef2429c" /><Relationship Type="http://schemas.openxmlformats.org/officeDocument/2006/relationships/slide" Target="/ppt/slides/slide8.xml" Id="Rc6ad3e892f224371" /><Relationship Type="http://schemas.openxmlformats.org/officeDocument/2006/relationships/slide" Target="/ppt/slides/slide9.xml" Id="Rd1822b7b1b574820" /><Relationship Type="http://schemas.openxmlformats.org/officeDocument/2006/relationships/slide" Target="/ppt/slides/slide10.xml" Id="Rc613dbfee9c2495d" /><Relationship Type="http://schemas.openxmlformats.org/officeDocument/2006/relationships/slide" Target="/ppt/slides/slide11.xml" Id="Raded5f194edf467b" /><Relationship Type="http://schemas.openxmlformats.org/officeDocument/2006/relationships/slide" Target="/ppt/slides/slide12.xml" Id="Rbe25f7d280174250" /><Relationship Type="http://schemas.openxmlformats.org/officeDocument/2006/relationships/slide" Target="/ppt/slides/slide13.xml" Id="R6218e395e8a64e27" /><Relationship Type="http://schemas.openxmlformats.org/officeDocument/2006/relationships/slide" Target="/ppt/slides/slide14.xml" Id="R476d5aa3cbf94d55" /><Relationship Type="http://schemas.openxmlformats.org/officeDocument/2006/relationships/slide" Target="/ppt/slides/slide15.xml" Id="Rcb9e54d6547747b3" /><Relationship Type="http://schemas.openxmlformats.org/officeDocument/2006/relationships/slide" Target="/ppt/slides/slide16.xml" Id="Rcd312ef2711c4993" /><Relationship Type="http://schemas.openxmlformats.org/officeDocument/2006/relationships/slide" Target="/ppt/slides/slide17.xml" Id="Reade31ce5af646e7" /><Relationship Type="http://schemas.openxmlformats.org/officeDocument/2006/relationships/slide" Target="/ppt/slides/slide18.xml" Id="R960b023197904faf" /><Relationship Type="http://schemas.openxmlformats.org/officeDocument/2006/relationships/slide" Target="/ppt/slides/slide19.xml" Id="R20e6658f22ba4fcc" /><Relationship Type="http://schemas.openxmlformats.org/officeDocument/2006/relationships/slide" Target="/ppt/slides/slide20.xml" Id="R5d67041b401e49f7" /><Relationship Type="http://schemas.openxmlformats.org/officeDocument/2006/relationships/slide" Target="/ppt/slides/slide21.xml" Id="R0057b42f5d4840f3" /><Relationship Type="http://schemas.openxmlformats.org/officeDocument/2006/relationships/slide" Target="/ppt/slides/slide22.xml" Id="Rdc620437b1ba4e8b" /><Relationship Type="http://schemas.openxmlformats.org/officeDocument/2006/relationships/slide" Target="/ppt/slides/slide23.xml" Id="Rb96c7761bee94fba" /><Relationship Type="http://schemas.openxmlformats.org/officeDocument/2006/relationships/slide" Target="/ppt/slides/slide24.xml" Id="R330b5891bcb24710" /><Relationship Type="http://schemas.openxmlformats.org/officeDocument/2006/relationships/slide" Target="/ppt/slides/slide25.xml" Id="Rcd8ab5040f504e4e" /><Relationship Type="http://schemas.openxmlformats.org/officeDocument/2006/relationships/slide" Target="/ppt/slides/slide26.xml" Id="R8d20ef08cc324ce1" /><Relationship Type="http://schemas.openxmlformats.org/officeDocument/2006/relationships/slide" Target="/ppt/slides/slide27.xml" Id="R8d5d148db52d45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28e6eede304f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68af2738f24547" /><Relationship Type="http://schemas.openxmlformats.org/officeDocument/2006/relationships/notesMaster" Target="/ppt/notesMasters/notesMaster1.xml" Id="Rb7a781acbade4a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8b89243b1f4228" /><Relationship Type="http://schemas.openxmlformats.org/officeDocument/2006/relationships/notesMaster" Target="/ppt/notesMasters/notesMaster1.xml" Id="R1b55a6a600fb49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b86746c8c7490e" /><Relationship Type="http://schemas.openxmlformats.org/officeDocument/2006/relationships/notesMaster" Target="/ppt/notesMasters/notesMaster1.xml" Id="R8bdf7a55783e49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55eb7fc10b4481" /><Relationship Type="http://schemas.openxmlformats.org/officeDocument/2006/relationships/notesMaster" Target="/ppt/notesMasters/notesMaster1.xml" Id="R3e38b81463e244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ab9001820b4769" /><Relationship Type="http://schemas.openxmlformats.org/officeDocument/2006/relationships/notesMaster" Target="/ppt/notesMasters/notesMaster1.xml" Id="Rd84af75cdb9c46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b4d655ad6b40de" /><Relationship Type="http://schemas.openxmlformats.org/officeDocument/2006/relationships/notesMaster" Target="/ppt/notesMasters/notesMaster1.xml" Id="R2f705ae76a4a47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d06a4a19574733" /><Relationship Type="http://schemas.openxmlformats.org/officeDocument/2006/relationships/notesMaster" Target="/ppt/notesMasters/notesMaster1.xml" Id="Rca3ed6d1e1aa46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b81521965a4098" /><Relationship Type="http://schemas.openxmlformats.org/officeDocument/2006/relationships/notesMaster" Target="/ppt/notesMasters/notesMaster1.xml" Id="R80e4ff91ff9d40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7c469685b84f13" /><Relationship Type="http://schemas.openxmlformats.org/officeDocument/2006/relationships/notesMaster" Target="/ppt/notesMasters/notesMaster1.xml" Id="R8c29cf39359a4d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944b4088ca4273" /><Relationship Type="http://schemas.openxmlformats.org/officeDocument/2006/relationships/notesMaster" Target="/ppt/notesMasters/notesMaster1.xml" Id="R11b22da483ac4b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541d6be1f245ff" /><Relationship Type="http://schemas.openxmlformats.org/officeDocument/2006/relationships/notesMaster" Target="/ppt/notesMasters/notesMaster1.xml" Id="Rfe4c667cfb1442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93bd9879a54d40" /><Relationship Type="http://schemas.openxmlformats.org/officeDocument/2006/relationships/notesMaster" Target="/ppt/notesMasters/notesMaster1.xml" Id="R49d955de6a354a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fba26cb4754be7" /><Relationship Type="http://schemas.openxmlformats.org/officeDocument/2006/relationships/notesMaster" Target="/ppt/notesMasters/notesMaster1.xml" Id="R8a8dae031d824b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ae3cfa92a0a46aa" /><Relationship Type="http://schemas.openxmlformats.org/officeDocument/2006/relationships/notesMaster" Target="/ppt/notesMasters/notesMaster1.xml" Id="Rbaaf6d2463a54a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51593dfd634a12" /><Relationship Type="http://schemas.openxmlformats.org/officeDocument/2006/relationships/notesMaster" Target="/ppt/notesMasters/notesMaster1.xml" Id="R1845b3448f464a6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59656977b14920" /><Relationship Type="http://schemas.openxmlformats.org/officeDocument/2006/relationships/notesMaster" Target="/ppt/notesMasters/notesMaster1.xml" Id="R40ecfe843efd46b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7ef2c28284b498f" /><Relationship Type="http://schemas.openxmlformats.org/officeDocument/2006/relationships/notesMaster" Target="/ppt/notesMasters/notesMaster1.xml" Id="Rcccee6f192264ab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a2b440d576048bd" /><Relationship Type="http://schemas.openxmlformats.org/officeDocument/2006/relationships/notesMaster" Target="/ppt/notesMasters/notesMaster1.xml" Id="R224137e8a8844ce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8f9a09e19c1484b" /><Relationship Type="http://schemas.openxmlformats.org/officeDocument/2006/relationships/notesMaster" Target="/ppt/notesMasters/notesMaster1.xml" Id="R9f52bd93d2c14e1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19640465b5e4622" /><Relationship Type="http://schemas.openxmlformats.org/officeDocument/2006/relationships/notesMaster" Target="/ppt/notesMasters/notesMaster1.xml" Id="Re39d65d16ab74ea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98fd3e0c7e24d88" /><Relationship Type="http://schemas.openxmlformats.org/officeDocument/2006/relationships/notesMaster" Target="/ppt/notesMasters/notesMaster1.xml" Id="Rac3ca037497742a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de7d2d556eb4650" /><Relationship Type="http://schemas.openxmlformats.org/officeDocument/2006/relationships/notesMaster" Target="/ppt/notesMasters/notesMaster1.xml" Id="Ra56624783ad24d1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5c9c16978ab4c33" /><Relationship Type="http://schemas.openxmlformats.org/officeDocument/2006/relationships/notesMaster" Target="/ppt/notesMasters/notesMaster1.xml" Id="Rc795fde96eea4de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01dd1ca4d604bad" /><Relationship Type="http://schemas.openxmlformats.org/officeDocument/2006/relationships/notesMaster" Target="/ppt/notesMasters/notesMaster1.xml" Id="R282f7227223d4ff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c2c7bae003b46e8" /><Relationship Type="http://schemas.openxmlformats.org/officeDocument/2006/relationships/notesMaster" Target="/ppt/notesMasters/notesMaster1.xml" Id="R64bf5f5a3d334bb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028b9b6560c42a9" /><Relationship Type="http://schemas.openxmlformats.org/officeDocument/2006/relationships/notesMaster" Target="/ppt/notesMasters/notesMaster1.xml" Id="R17df2a40925e46e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99edf278e7b4194" /><Relationship Type="http://schemas.openxmlformats.org/officeDocument/2006/relationships/notesMaster" Target="/ppt/notesMasters/notesMaster1.xml" Id="R5190af5584c34e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Paudel et al. (2023). Interpretability of deep learning models for crop yield forecasting. Computers and Electronics in Agriculture 206, 107663. https://doi.org/10.1016/j.compag.2023.107663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Paudel et al. (2023). Interpretability of deep learning models for crop yield forecasting. Computers and Electronics in Agriculture 206, 107663. https://doi.org/10.1016/j.compag.2023.107663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Paudel et al. (2023). Interpretability of deep learning models for crop yield forecasting. Computers and Electronics in Agriculture 206, 107663. https://doi.org/10.1016/j.compag.2023.107663</a:t>
            </a:r>
          </a:p>
          <a:p xmlns:a="http://schemas.openxmlformats.org/drawingml/2006/main">
            <a:r>
              <a:t>European sample: https://doi.org/10.5281/zenodo.5561113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  <a:p xmlns:a="http://schemas.openxmlformats.org/drawingml/2006/main">
            <a:r>
              <a:t>https://data.gov.in/resource/district-wise-season-wise-crop-production-statistics-1997</a:t>
            </a:r>
          </a:p>
          <a:p xmlns:a="http://schemas.openxmlformats.org/drawingml/2006/main">
            <a:r>
              <a:t>https://ckandev.indiadataportal.com/dataset/area-production-yield-apy</a:t>
            </a:r>
          </a:p>
          <a:p xmlns:a="http://schemas.openxmlformats.org/drawingml/2006/main">
            <a:r>
              <a:t>https://gadm.org/data.html</a:t>
            </a:r>
          </a:p>
          <a:p xmlns:a="http://schemas.openxmlformats.org/drawingml/2006/main">
            <a:r>
              <a:t>https://power.larc.nasa.gov/docs/services/api/temporal/daily/</a:t>
            </a:r>
          </a:p>
          <a:p xmlns:a="http://schemas.openxmlformats.org/drawingml/2006/main">
            <a:r>
              <a:t>https://www.kaggle.com/competitions/paddy-disease-classification/data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  <a:p xmlns:a="http://schemas.openxmlformats.org/drawingml/2006/main">
            <a:r>
              <a:t>https://www.kaggle.com/competitions/paddy-disease-classification/data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Paudel et al. (2023). Interpretability of deep learning models for crop yield forecasting. Computers and Electronics in Agriculture 206, 107663. https://doi.org/10.1016/j.compag.2023.107663</a:t>
            </a:r>
          </a:p>
          <a:p xmlns:a="http://schemas.openxmlformats.org/drawingml/2006/main">
            <a:r>
              <a:t>https://data.gov.in/resource/district-wise-season-wise-crop-production-statistics-1997</a:t>
            </a:r>
          </a:p>
          <a:p xmlns:a="http://schemas.openxmlformats.org/drawingml/2006/main">
            <a:r>
              <a:t>https://ckandev.indiadataportal.com/dataset/area-production-yield-apy</a:t>
            </a:r>
          </a:p>
          <a:p xmlns:a="http://schemas.openxmlformats.org/drawingml/2006/main">
            <a:r>
              <a:t>https://gadm.org/data.html</a:t>
            </a:r>
          </a:p>
          <a:p xmlns:a="http://schemas.openxmlformats.org/drawingml/2006/main">
            <a:r>
              <a:t>https://power.larc.nasa.gov/docs/services/api/temporal/daily/</a:t>
            </a:r>
          </a:p>
          <a:p xmlns:a="http://schemas.openxmlformats.org/drawingml/2006/main">
            <a:r>
              <a:t>https://www.kaggle.com/competitions/paddy-disease-classification/data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project artifacts: sequence training result.json and data_manifest.json, sequence-config.json, image metadata and offline inference implementation. Updated 23 October 2026.</a:t>
            </a:r>
          </a:p>
          <a:p xmlns:a="http://schemas.openxmlformats.org/drawingml/2006/main">
            <a:r>
              <a:t>https://github.com/ritwik1612/crop-yantra/blob/main/docs/architecture/MERMAID.md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d8b5eb026240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a90d72dfc48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49a58d71643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8a8867faee4d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46b9d1ba7248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7f2047e23b4e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703D04-D19F-4345-BAB9-A066FE028F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A45243B-1544-4C16-B39D-72C4D6A693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F9ADE55-50D8-4340-8CCF-A1A6446AD0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E9C1F1-E135-4E38-95F3-ACE0AF13DD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047CE1-9192-488E-9217-64486ED280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57F618-CA50-4F8D-BCA1-C3BA25D394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5619DB-070D-4131-A4D5-CA55150E47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8FA40D-A1B4-4E3F-A8A3-C1B689A32CF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2AE74A-2641-40A8-824C-3331C3098D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591ED2-AB92-448C-8E74-F51925ADF5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b37fa8a7914ff4" /><Relationship Type="http://schemas.openxmlformats.org/officeDocument/2006/relationships/slideLayout" Target="/ppt/slideLayouts/slideLayout1.xml" Id="R76a86b3324714ecc" /><Relationship Type="http://schemas.openxmlformats.org/officeDocument/2006/relationships/slideLayout" Target="/ppt/slideLayouts/slideLayout2.xml" Id="R3aebb6b130cd478d" /><Relationship Type="http://schemas.openxmlformats.org/officeDocument/2006/relationships/slideLayout" Target="/ppt/slideLayouts/slideLayout3.xml" Id="Rb9a965a8cfc546c8" /><Relationship Type="http://schemas.openxmlformats.org/officeDocument/2006/relationships/slideLayout" Target="/ppt/slideLayouts/slideLayout4.xml" Id="Rbc68bb6e2bdf424e" /><Relationship Type="http://schemas.openxmlformats.org/officeDocument/2006/relationships/slideLayout" Target="/ppt/slideLayouts/slideLayout5.xml" Id="R454a8246c0a4455f" /><Relationship Type="http://schemas.openxmlformats.org/officeDocument/2006/relationships/slideLayout" Target="/ppt/slideLayouts/slideLayout6.xml" Id="Rc8c61b94adfc4c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a86b3324714ecc"/>
    <p:sldLayoutId xmlns:r="http://schemas.openxmlformats.org/officeDocument/2006/relationships" id="2147483650" r:id="R3aebb6b130cd478d"/>
    <p:sldLayoutId xmlns:r="http://schemas.openxmlformats.org/officeDocument/2006/relationships" id="2147483651" r:id="Rb9a965a8cfc546c8"/>
    <p:sldLayoutId xmlns:r="http://schemas.openxmlformats.org/officeDocument/2006/relationships" id="2147483652" r:id="Rbc68bb6e2bdf424e"/>
    <p:sldLayoutId xmlns:r="http://schemas.openxmlformats.org/officeDocument/2006/relationships" id="2147483653" r:id="R454a8246c0a4455f"/>
    <p:sldLayoutId xmlns:r="http://schemas.openxmlformats.org/officeDocument/2006/relationships" id="2147483654" r:id="Rc8c61b94adfc4c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8935c521124f9f" /><Relationship Type="http://schemas.openxmlformats.org/officeDocument/2006/relationships/notesSlide" Target="/ppt/notesSlides/notesSlide1.xml" Id="Rc74d2c115aaa4c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1c4e93cb1b44ca" /><Relationship Type="http://schemas.openxmlformats.org/officeDocument/2006/relationships/notesSlide" Target="/ppt/notesSlides/notesSlide2.xml" Id="R62e744c452f443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36ea20b02a4904" /><Relationship Type="http://schemas.openxmlformats.org/officeDocument/2006/relationships/notesSlide" Target="/ppt/notesSlides/notesSlide3.xml" Id="Rd5ab6feefd4d4d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d3a810a36b4d74" /><Relationship Type="http://schemas.openxmlformats.org/officeDocument/2006/relationships/notesSlide" Target="/ppt/notesSlides/notesSlide4.xml" Id="Rad14c3869c3843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29c10ebe89419b" /><Relationship Type="http://schemas.openxmlformats.org/officeDocument/2006/relationships/notesSlide" Target="/ppt/notesSlides/notesSlide5.xml" Id="R4cd6c9b848fc4b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951afb3c244d49" /><Relationship Type="http://schemas.openxmlformats.org/officeDocument/2006/relationships/notesSlide" Target="/ppt/notesSlides/notesSlide6.xml" Id="R51ad3a7c97554c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58b610e5c4c37" /><Relationship Type="http://schemas.openxmlformats.org/officeDocument/2006/relationships/notesSlide" Target="/ppt/notesSlides/notesSlide7.xml" Id="R329c1a0bba9c44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2ba1937cfe4d8b" /><Relationship Type="http://schemas.openxmlformats.org/officeDocument/2006/relationships/notesSlide" Target="/ppt/notesSlides/notesSlide8.xml" Id="R5a4dc6cb47f241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347cab1fc4d3a" /><Relationship Type="http://schemas.openxmlformats.org/officeDocument/2006/relationships/notesSlide" Target="/ppt/notesSlides/notesSlide9.xml" Id="Rcb1d64c0459344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b761eb3fb14bdb" /><Relationship Type="http://schemas.openxmlformats.org/officeDocument/2006/relationships/notesSlide" Target="/ppt/notesSlides/notesSlide10.xml" Id="R2ae518da876a43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f2d08820f540e3" /><Relationship Type="http://schemas.openxmlformats.org/officeDocument/2006/relationships/notesSlide" Target="/ppt/notesSlides/notesSlide11.xml" Id="Rd68e45c4c2374d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779f3aa18c4686" /><Relationship Type="http://schemas.openxmlformats.org/officeDocument/2006/relationships/notesSlide" Target="/ppt/notesSlides/notesSlide12.xml" Id="Rabba48e058d04c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2af4c6f38e4496" /><Relationship Type="http://schemas.openxmlformats.org/officeDocument/2006/relationships/notesSlide" Target="/ppt/notesSlides/notesSlide13.xml" Id="R286b4728d6094d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a1d420bc124e24" /><Relationship Type="http://schemas.openxmlformats.org/officeDocument/2006/relationships/notesSlide" Target="/ppt/notesSlides/notesSlide14.xml" Id="Re5012dca535745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fd5f4cb71848d6" /><Relationship Type="http://schemas.openxmlformats.org/officeDocument/2006/relationships/notesSlide" Target="/ppt/notesSlides/notesSlide15.xml" Id="Ra1c3418bcc7d4b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a3e542f3214b60" /><Relationship Type="http://schemas.openxmlformats.org/officeDocument/2006/relationships/notesSlide" Target="/ppt/notesSlides/notesSlide16.xml" Id="Rf5fc6d482e7a4c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0d6af7c2340fe" /><Relationship Type="http://schemas.openxmlformats.org/officeDocument/2006/relationships/notesSlide" Target="/ppt/notesSlides/notesSlide17.xml" Id="Raf3ab947a61846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cdf2b3b6a4867" /><Relationship Type="http://schemas.openxmlformats.org/officeDocument/2006/relationships/notesSlide" Target="/ppt/notesSlides/notesSlide18.xml" Id="R2e9c765e8d7442c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d715ed642e4242" /><Relationship Type="http://schemas.openxmlformats.org/officeDocument/2006/relationships/notesSlide" Target="/ppt/notesSlides/notesSlide19.xml" Id="R34d9a1739e344d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e5a0011704753" /><Relationship Type="http://schemas.openxmlformats.org/officeDocument/2006/relationships/notesSlide" Target="/ppt/notesSlides/notesSlide20.xml" Id="Rcd365d2b189946e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b0b8dcb4a54f7e" /><Relationship Type="http://schemas.openxmlformats.org/officeDocument/2006/relationships/notesSlide" Target="/ppt/notesSlides/notesSlide21.xml" Id="Rc9a9876ee207416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bd26226d864526" /><Relationship Type="http://schemas.openxmlformats.org/officeDocument/2006/relationships/notesSlide" Target="/ppt/notesSlides/notesSlide22.xml" Id="Rd6e7cc61bbcf4cf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09737c65fe416c" /><Relationship Type="http://schemas.openxmlformats.org/officeDocument/2006/relationships/notesSlide" Target="/ppt/notesSlides/notesSlide23.xml" Id="Re3aa6d0aab03443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0a47e426ad4dfe" /><Relationship Type="http://schemas.openxmlformats.org/officeDocument/2006/relationships/notesSlide" Target="/ppt/notesSlides/notesSlide24.xml" Id="R438e22adb740469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3b943ccaba445e" /><Relationship Type="http://schemas.openxmlformats.org/officeDocument/2006/relationships/notesSlide" Target="/ppt/notesSlides/notesSlide25.xml" Id="Raa8608b674c542d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1502017a0418f" /><Relationship Type="http://schemas.openxmlformats.org/officeDocument/2006/relationships/notesSlide" Target="/ppt/notesSlides/notesSlide26.xml" Id="R6a2f7cf58c1e4ef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f2cc1204134d75" /><Relationship Type="http://schemas.openxmlformats.org/officeDocument/2006/relationships/hyperlink" Target="https://github.com/ritwik1612/crop-yantra/blob/main/docs/architecture/yield-cnn-lstm.svg" TargetMode="External" Id="R83df2cb47e5e4688" /><Relationship Type="http://schemas.openxmlformats.org/officeDocument/2006/relationships/hyperlink" Target="https://github.com/ritwik1612/crop-yantra/blob/main/docs/architecture/yield-cnn-lstm.mmd" TargetMode="External" Id="Re3e3656ae9a74268" /><Relationship Type="http://schemas.openxmlformats.org/officeDocument/2006/relationships/hyperlink" Target="https://github.com/ritwik1612/crop-yantra/blob/main/docs/architecture/image-efficientnet.svg" TargetMode="External" Id="R4ad2932bdb2141ab" /><Relationship Type="http://schemas.openxmlformats.org/officeDocument/2006/relationships/hyperlink" Target="https://github.com/ritwik1612/crop-yantra/blob/main/docs/architecture/image-efficientnet.mmd" TargetMode="External" Id="R86dc34ec4aed4885" /><Relationship Type="http://schemas.openxmlformats.org/officeDocument/2006/relationships/notesSlide" Target="/ppt/notesSlides/notesSlide27.xml" Id="R7004152405ab40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D21E0-777E-4A88-9244-79EE49EC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Crop Yield and Health Prediction</a:t>
            </a:r>
          </a:p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Using Deep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45DF7-E01D-4D96-B2D9-9E84F1A7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47CEA-216B-45CE-A618-68BFBC36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 Ritwik Reddy  23BAI0037</a:t>
            </a:r>
          </a:p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Sai Joshith Reddy G  23BAI0075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ADB85-5F17-49DE-A425-833D32CF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006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 review</a:t>
            </a:r>
          </a:p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 October 2026</a:t>
            </a:r>
          </a:p>
        </p:txBody>
      </p:sp>
    </p:spTree>
    <p:extLst>
      <p:ext uri="{BB962C8B-B14F-4D97-AF65-F5344CB8AC3E}">
        <p14:creationId xmlns:p14="http://schemas.microsoft.com/office/powerpoint/2010/main" val="1164250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52A1D-BD0A-4106-AD98-DE55D646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 paper: research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E1DA1-CDAC-427E-9E46-F252942B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BAC03-A701-4E70-8547-AB794E29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Interpretability of deep learning models</a:t>
            </a:r>
          </a:p>
          <a:p xmlns:a="http://schemas.openxmlformats.org/drawingml/2006/main">
            <a: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crop yield 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DB34F-6BC8-439E-B384-D88EF26A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1081087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Paudel and colleagues published this study in 2023.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study examines regional wheat and maize yield forecasting in Europe.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It combines seasonal weather sequences with crop, remote-sensing and static indicators.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LSTM and 1D CNN models learn temporal representations and predict regional yield in tonnes per hectare.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491D7-4153-4BDA-9441-D807D4C1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Computers and Electronics in Agriculture 206, 107663</a:t>
            </a:r>
          </a:p>
        </p:txBody>
      </p:sp>
    </p:spTree>
    <p:extLst>
      <p:ext uri="{BB962C8B-B14F-4D97-AF65-F5344CB8AC3E}">
        <p14:creationId xmlns:p14="http://schemas.microsoft.com/office/powerpoint/2010/main" val="13017610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24EFF-55F3-4445-9C95-1AADFD6C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 paper: method and relevance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B2334-E94A-416A-BE7C-211DD5AB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2F808-C901-4F46-83E7-EA15C501D202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8239125"/>
              </a:tblGrid>
              <a:tr h="6191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Research method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Time representation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Dekadal seasonal sequences and static inputs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Neural models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LSTM and 1D CNN yield regressors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Forecast timing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Weather available before harvest, including a 60-day lead setting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Evaluation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Recent years held out and normalized prediction-error measures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Occlusion, Integrated Gradients and GradientShap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1008F-E793-4156-9A82-64104C48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Our work adapts sequence learning to Indian rice and adds an independent image classifier.</a:t>
            </a:r>
          </a:p>
        </p:txBody>
      </p:sp>
    </p:spTree>
    <p:extLst>
      <p:ext uri="{BB962C8B-B14F-4D97-AF65-F5344CB8AC3E}">
        <p14:creationId xmlns:p14="http://schemas.microsoft.com/office/powerpoint/2010/main" val="461921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4642F-E8DF-4CAC-BD86-DD409725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we assembled an Indian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09D8C-83EC-4381-8D2C-C9B7A679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4CE39-2AA9-478F-BC8D-A291376E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81087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reference paper studies European crops and growing conditions.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Its public sample does not provide the South Indian district coverage required for our application.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We joined observed crop records, district coordinates and NASA daily weather for Indian rice.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Our dataset is source-derived. The training targets come from measured production and area records.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Different crops, regions and inputs prevent a controlled accuracy comparison with the paper.</a:t>
            </a:r>
          </a:p>
        </p:txBody>
      </p:sp>
    </p:spTree>
    <p:extLst>
      <p:ext uri="{BB962C8B-B14F-4D97-AF65-F5344CB8AC3E}">
        <p14:creationId xmlns:p14="http://schemas.microsoft.com/office/powerpoint/2010/main" val="555585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14861-99EF-46C0-A202-A1942C2C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 tasks and application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B1908-0F13-461D-9E61-F2BE477B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5930F-755C-4C5C-B1D4-E0A7A96FC4A7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857750"/>
                <a:gridCol w="3524250"/>
              </a:tblGrid>
              <a:tr h="682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Yield prediction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Weather sequence, district coordinates, state and season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Rice yield in t/ha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Harvest calculation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Predicted t/ha and user rice-planted hectares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Production tonnes and kilograms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Crop-health identification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Uploaded RGB rice photograph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Ten class scores and screening result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Explanation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Actual tensors, model activations and reference occlusions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Stage-level inspection and input sensitivity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Export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Selected yield and health results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Formatted PDF including uploaded photograph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59591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70FCC-E585-496D-9CD5-21384775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Datasets and source families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80E57-0B1A-48C3-9B92-C83FFB7E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44A66-A786-40DD-8E97-DE92B0625FBD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4524375"/>
                <a:gridCol w="3429000"/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Source family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it contains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How we use it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Government statistics and UPAg / DES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District, crop, year, season, area and production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Observed yield labels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GADM 4.1 boundaries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District geometry and representative coordinates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Location matching and map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NASA POWER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Daily weather observations / gridded estimates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Ordered temporal inputs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Rice disease photographs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Labelled RGB images of ten conditions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Independent image classifier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CE6A2-3BC1-499E-8458-8584C26E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tabular source families support yield. The image dataset remains separate.</a:t>
            </a:r>
          </a:p>
        </p:txBody>
      </p:sp>
    </p:spTree>
    <p:extLst>
      <p:ext uri="{BB962C8B-B14F-4D97-AF65-F5344CB8AC3E}">
        <p14:creationId xmlns:p14="http://schemas.microsoft.com/office/powerpoint/2010/main" val="1348477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20AA3-7EE1-4807-B1D0-C58241DF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Raw sources and the rice master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1EAB4-D8C1-4E13-8D87-BA0EC765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30029-2796-489C-BA7B-1CFB3746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238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CA1BA-199D-4D7D-8E4F-76EAD29F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009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Government crop records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Rice, area, 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B23E7-C0B2-41B4-BACF-69703162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71675"/>
            <a:ext cx="476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D0D55-1B70-4862-82B6-2ABED251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238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C50DE-269B-44C7-9AA2-853B158E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733550"/>
            <a:ext cx="3009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 district + season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Same-state names, units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47A7A-8B99-4035-92BE-7B66DB81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71675"/>
            <a:ext cx="476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6772B-AE6E-40D7-B697-CB206EA1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3238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0FBE2-C015-42AB-9CAF-5D87AFBC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33550"/>
            <a:ext cx="3009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Measured rice master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2,642 rows × 30 columns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087F6-8FBB-4ECD-8280-101ADA9D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3238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551D7-8040-4FE5-B478-5E272003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3009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GADM boundaries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Longitude and latitude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7B9AB-DB31-4B65-8980-25764D96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29050"/>
            <a:ext cx="476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5F170-3AA2-43D3-A43C-E4163E32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238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5F03F-2E3D-45BB-BE49-D55C7954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90925"/>
            <a:ext cx="3009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NASA daily weather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Join location + calendar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4F644-F6AC-4B79-ABD5-41DBEB80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 yield = production tonnes ÷ harvested hectares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ECDEB-4203-463C-A4D6-171CFCFB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Require complete weather coverage and exact normalized district matches. Preserve raw sources.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F84F45-0BEC-429E-89F0-1CFA6795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05250"/>
            <a:ext cx="2047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5555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78341-E08E-4F72-8366-D9D31E96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171450" cy="12382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472193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26819-A51B-44A5-A08C-FC9DCC2F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Measured dataset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72FC9-D463-4245-9395-989DB8A1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42165-BC6C-48B0-8466-1A36CED154A2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810500"/>
              </a:tblGrid>
              <a:tr h="6191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Property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Current dataset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Crop and location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Rice in Andhra Pradesh, Karnataka, Tamil Nadu and Telangana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Measured observations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2,642 district-year-season rows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Matched districts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68 with measured records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Crop-start years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2001 to 2024, through agricultural year 2024–25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Training label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Production tonnes / crop area hectares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155D5-4468-4B70-8063-BF7C14FA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103-district map and measured training coverage are different scopes.</a:t>
            </a:r>
          </a:p>
        </p:txBody>
      </p:sp>
    </p:spTree>
    <p:extLst>
      <p:ext uri="{BB962C8B-B14F-4D97-AF65-F5344CB8AC3E}">
        <p14:creationId xmlns:p14="http://schemas.microsoft.com/office/powerpoint/2010/main" val="12897833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7AB91-59E9-4886-81E2-BE0D8DCB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Inputs selected for neural yield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FCDC9-ABF2-4296-9F53-12402913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5846C-638F-45DE-BD85-436A61129091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5429250"/>
                <a:gridCol w="2714625"/>
              </a:tblGrid>
              <a:tr h="6588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Branch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Inputs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Representation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Time-varying weather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Tmax, Tmin, Tavg, vapour pressure, wind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Bin means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Time-varying weather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Rainfall, land evaporation and radiation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Bin totals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Time-varying weather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Relative humidity, surface pressure, bin-day count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Means and day count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Static location / season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Longitude, latitude, four state flags, five season flags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 static values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 from network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Production, yield, end-season district crop area, price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Target leakage / unavailable inputs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6350F-17B9-43BE-8AB8-95565BF7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Weather has 11 channels at every timestep. User hectares scale production after yield inference.</a:t>
            </a:r>
          </a:p>
        </p:txBody>
      </p:sp>
    </p:spTree>
    <p:extLst>
      <p:ext uri="{BB962C8B-B14F-4D97-AF65-F5344CB8AC3E}">
        <p14:creationId xmlns:p14="http://schemas.microsoft.com/office/powerpoint/2010/main" val="15533077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0E519-D78A-4DEE-B981-C5CE1FF2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Sequence preprocessing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C3C84-3DA9-42E2-957F-55107D38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3AAC6-34D7-41A0-8A11-82941FAFFABA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5429250"/>
                <a:gridCol w="4572000"/>
              </a:tblGrid>
              <a:tr h="585107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Order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Operation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Chronological split before fitting transforms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Train, validation and test remain separate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Join daily weather and audit seasonal aggregates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Every one of 2,642 rows reconciles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Stop weather 60 days before proxy season end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 future weather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Aggregate consecutive ten-day bins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 to 13 valid timesteps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Fit channel / coordinate scaling on training only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Scale held-out inputs unchanged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Pad to 13 steps and retain valid lengths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Masks keep padding out of prediction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34F07-5C8F-440B-9FF0-19E62AAC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calendar windows approximate seasons. They do not provide observed sowing or harvest dates.</a:t>
            </a:r>
          </a:p>
        </p:txBody>
      </p:sp>
    </p:spTree>
    <p:extLst>
      <p:ext uri="{BB962C8B-B14F-4D97-AF65-F5344CB8AC3E}">
        <p14:creationId xmlns:p14="http://schemas.microsoft.com/office/powerpoint/2010/main" val="19928726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EF993-9B68-4A4A-9E5D-68FEBBCD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Chronological training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6511E-53D8-46F9-B7B3-EDAF026B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2FB64-6065-48CB-8641-B565B9779A8A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381250"/>
                <a:gridCol w="1905000"/>
                <a:gridCol w="4381500"/>
              </a:tblGrid>
              <a:tr h="7143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Partition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Years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Observations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2001–2020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1,984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Fit weights and preprocessing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2021–2022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Select model, seed and checkpoint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Held-out test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2023–2024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Evaluate frozen selection once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FD89C-61EE-403F-9C41-439633C1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81087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No random mixing of years across partitions.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No synthetic yield labels enter sequence training.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Test results do not determine hyperparameters or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954207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D8A5F-0E55-4847-8163-EA585105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Implemented deep-learning 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E6AA4-B03E-458A-B3A6-C60C6F98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DE169-FDDF-4574-ACC9-40A11377C179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143500"/>
                <a:gridCol w="2762250"/>
              </a:tblGrid>
              <a:tr h="7143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Learning task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Current role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CNN–LSTM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Local weather patterns and temporal memory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Active yield regressor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LSTM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Temporal weather dependencies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Trained comparison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1D CNN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Patterns across nearby weather bins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Trained comparison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Rice photo feature extraction and classification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Active ten-class image model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18702-C066-4D24-8AD7-F8B73766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Both primary prediction tasks use neural networks. Model complexity does not itself prove accuracy.</a:t>
            </a:r>
          </a:p>
        </p:txBody>
      </p:sp>
    </p:spTree>
    <p:extLst>
      <p:ext uri="{BB962C8B-B14F-4D97-AF65-F5344CB8AC3E}">
        <p14:creationId xmlns:p14="http://schemas.microsoft.com/office/powerpoint/2010/main" val="3518002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520CA-3A4A-4285-BBB1-CBDDAD32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Yield architecture: inputs over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1B91D-2F77-4396-A44B-B3F61D3E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88738-6452-4227-9947-33A553B7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190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81E50-EEF4-42B3-A3B7-069E4A86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1962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t1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 weather values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63C73-E0BB-4601-87AD-E2CFE4B3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47875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CC6F2-B8DC-4880-87A4-48636F37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190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58CEA-A625-4BD5-8DC8-6844DC46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28800"/>
            <a:ext cx="1962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t2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 weather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1C8A3-8AFB-4BB6-A47A-3A683AFE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47875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D32CB-4B9A-40B2-86D6-FE86E507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476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82D9F-D130-4721-8CA1-1F83FC42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28800"/>
            <a:ext cx="2247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 valid timesteps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 to 13 bins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ACEF6-C176-4B27-A212-711FCF9F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47875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7CF98-BBAF-4B48-A7B0-AA079C8D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28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25BAE-3F91-4F8C-9465-9953785C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28800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13 maximum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Padding + lengths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C1D7C-A3AB-4914-A28C-AAB20CFF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time bin contains the same ordered weather channels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4B623-AC7E-47A1-9C2E-403A8A6B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Temperatures, vapour pressure, wind, rainfall, evaporation, radiation, humidity, pressure and bin-day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model receives [batch, 13, 11] weather values plus true lengths. Only valid bins contribute to the final state.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E4087-0BC2-4A22-AEB3-570E81E5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Separate static branch: 2 scaled coordinates + 4 state indicators + 5 season indicators.</a:t>
            </a:r>
          </a:p>
        </p:txBody>
      </p:sp>
    </p:spTree>
    <p:extLst>
      <p:ext uri="{BB962C8B-B14F-4D97-AF65-F5344CB8AC3E}">
        <p14:creationId xmlns:p14="http://schemas.microsoft.com/office/powerpoint/2010/main" val="14949543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BABF6-97FF-4DD0-BFAA-DBB69B29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CNN–LSTM architecture and tensor shapes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4D848-0454-43F1-99C3-71427C97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463E9-AE16-4EF4-ABF1-8ABC7680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28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0ADA9-B885-43D2-9FAA-F6842865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33550"/>
            <a:ext cx="2057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Weather tensor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[B, 13, 11]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09F5C-7C81-43C3-9A27-6642213A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2405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52BA2-BA09-4A82-ABAD-2761F8B9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762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602CA-E46D-4B17-9E20-7F973B63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33550"/>
            <a:ext cx="2533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Conv1d + GELU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 → 32 → 32 channels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9B99C-140B-45D0-A7A4-CFFE2900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2405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6509B-A6B6-432B-B9D4-37251F78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19250"/>
            <a:ext cx="2762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28E66-75D0-4DB5-9812-746AB288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733550"/>
            <a:ext cx="2533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LSTM, hidden 32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 valid h: [B, 32]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90A44-FE14-4F9F-987B-D795EEFD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28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A1442-025D-4659-AE50-6E493075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2057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Static inputs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[B, 11]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983EF-F7CC-4DA2-B613-8FCFA837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71900"/>
            <a:ext cx="1619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FA05F-E154-4C61-B762-88DE74DE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76625"/>
            <a:ext cx="3476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C2AEC-9FF9-4F6E-A97D-CE364F72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590925"/>
            <a:ext cx="3248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Concatenate hidden + static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[B, 43]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6C712-12C8-43F9-9D2E-4CA1637A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7190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C7C77-5E1E-4C90-82FE-06F75B64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76625"/>
            <a:ext cx="2905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6CD768-C019-48DF-A96C-A3F0F0A7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590925"/>
            <a:ext cx="26765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Dense regression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 → 64 →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C17925-3324-4034-8E5C-9CCC6A0F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Kernel 3, padding 1 and valid-length masks in both convolutions.</a:t>
            </a:r>
          </a:p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LSTM gates update hidden/cell memory at each timestep.</a:t>
            </a:r>
          </a:p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GELU and dropout 0.2 in the dense head. Dropout is off at inference.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BB9B8-C8B0-47BB-8897-D77FDBEB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Yield (t/ha) = standardized network output × training-target std + training-target mean.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0BE1AB-4972-4AC3-88C8-D09BB6CF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171450" cy="762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350780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93E37-9665-41A3-87C2-96C8B550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Neural training and model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2957A-6777-458F-9156-80FDEF83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71C70-76F3-40EC-981E-2B8691FD262F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4381500"/>
                <a:gridCol w="2571750"/>
              </a:tblGrid>
              <a:tr h="59531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Best validation RMSE (t/ha)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Selected seed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LSTM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0.5631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1D CNN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0.5591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CNN–LSTM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0.5425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EC005-F52B-4051-A206-B154718D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1081087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Six runs: three architectures and two random seeds.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AdamW with MSE, learning rate 0.001, batch size 64 and gradient clipping.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Maximum 150 epochs and patience 25. Validation selects CNN–LSTM at epoch 9.</a:t>
            </a:r>
          </a:p>
        </p:txBody>
      </p:sp>
    </p:spTree>
    <p:extLst>
      <p:ext uri="{BB962C8B-B14F-4D97-AF65-F5344CB8AC3E}">
        <p14:creationId xmlns:p14="http://schemas.microsoft.com/office/powerpoint/2010/main" val="4882772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2A8A3-9404-4401-9071-8A2DD211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Achieved yield-prediction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1E1C6-A156-44DD-83FD-9AFE523B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F6567-6986-486E-9437-5C36E21A2430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000500"/>
                <a:gridCol w="4572000"/>
              </a:tblGrid>
              <a:tr h="7143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CNN–LSTM held-out test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0.4749 t/ha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Average absolute prediction error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0.6000 t/ha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Error measure that penalizes large misses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0.1918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Predictive fit relative to the test-set mean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934CE-5DC9-486C-9693-BB89485C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Lower MAE and RMSE indicate better predictions. Higher predicted tonnes per hectare do not indicate better accuracy.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DAC44-CE64-44F4-ADA8-17436D91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337 measured test observations. Performance remains modest. Yield regression has no single accuracy percentage.</a:t>
            </a:r>
          </a:p>
        </p:txBody>
      </p:sp>
    </p:spTree>
    <p:extLst>
      <p:ext uri="{BB962C8B-B14F-4D97-AF65-F5344CB8AC3E}">
        <p14:creationId xmlns:p14="http://schemas.microsoft.com/office/powerpoint/2010/main" val="10429002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D0690-7087-4466-A0DF-EFAD704F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Missing districts and current-season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EF110-34B2-4340-94BB-10E2B115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768DE-783C-4625-A983-2178B1CE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81087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app selects a training-only district-season weather trajectory.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For missing references, it blends the nearest training weather templates, preferring the same state.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selected district still supplies its own coordinates and state flags.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User weather assumptions modify the sequence. The same CNN–LSTM predicts every supported scenario.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Neighbour weather transfer and current-season scenarios do not establish measured local accuracy.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D1F00-861C-49E9-8981-C06AF3CB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generated yield target or separate fallback predictor enters the active sequence route.</a:t>
            </a:r>
          </a:p>
        </p:txBody>
      </p:sp>
    </p:spTree>
    <p:extLst>
      <p:ext uri="{BB962C8B-B14F-4D97-AF65-F5344CB8AC3E}">
        <p14:creationId xmlns:p14="http://schemas.microsoft.com/office/powerpoint/2010/main" val="3511491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DA6DB-83E9-450F-A459-700A9984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 dataset and regional relevance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2656A-461A-486E-AE33-ACA644F7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13A54-207A-4225-B1ED-4A8B2BEC13F4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1333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762250"/>
                <a:gridCol w="1905000"/>
                <a:gridCol w="1952625"/>
                <a:gridCol w="1952625"/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Original labelled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Duplicate-filtered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10,407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8,419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5,905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1,257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1,257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000B4-DEB1-48D1-92A3-951D0C1A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Collected near Tirunelveli, Tamil Nadu. Rice-relevant source, with broader field generalization still unverified.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C4EEE-B944-472A-A7A3-0328928D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Ten classes</a:t>
            </a:r>
          </a:p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Bacterial leaf blight, bacterial leaf streak, bacterial panicle blight, blast, brown spot, dead heart, downy mildew, hispa, normal and tungro.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6FACC-4EB2-459C-87DC-97FCF5CB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Classes include disease, pest symptoms and normal rice. Duplicate-safe partitions reduce leakage.</a:t>
            </a:r>
          </a:p>
        </p:txBody>
      </p:sp>
    </p:spTree>
    <p:extLst>
      <p:ext uri="{BB962C8B-B14F-4D97-AF65-F5344CB8AC3E}">
        <p14:creationId xmlns:p14="http://schemas.microsoft.com/office/powerpoint/2010/main" val="14367933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DE8BC-322B-4D5E-A05E-14E8BFC7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 preprocessing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4A1B9-E882-4C8B-9FB6-8849B71C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2DEA8-FBEE-4B4A-81A7-F8259FEB1CE5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619750"/>
                <a:gridCol w="3143250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Actual transformation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Validate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Format, size, dimensions, contrast, blur and lighting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Accepted local RGB photograph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Orient and resize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EXIF correction and bicubic shorter edge 256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Resized RGB image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Centre crop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Retain central 224 × 224 pixels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224 × 224 × 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Normalize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Pixel/255, then ImageNet channel mean/std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Floating-point tensor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Reorder and batch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Channel-first format and batch dimension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[1, 3, 224, 224]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67B04-D78E-4098-AFB3-02EF9F25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 pixels alone drive classification. District and weather are context, not classifier inputs.</a:t>
            </a:r>
          </a:p>
        </p:txBody>
      </p:sp>
    </p:spTree>
    <p:extLst>
      <p:ext uri="{BB962C8B-B14F-4D97-AF65-F5344CB8AC3E}">
        <p14:creationId xmlns:p14="http://schemas.microsoft.com/office/powerpoint/2010/main" val="20807852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D11F33-5A38-4AC2-B70B-6DB40A77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EfficientNet-B0 image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6DC3B-3355-4511-8AF3-72DA3A35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B66ED-3B2F-45AC-920E-CEFC53E0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C531A-841D-47F2-A16F-B541936B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33550"/>
            <a:ext cx="2343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RGB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[1, 3, 224, 224]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C6AF3-A552-4677-ABD8-38EB9768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14525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16202-2428-45BD-A203-14DEC52D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BFDFD-0A5E-400B-B94A-62BC32AE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33550"/>
            <a:ext cx="2343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Stem convolution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 × 112 × 112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860D1-5E26-4C76-A145-1E3477A3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14525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A8905-3930-4F64-91E8-2C2C429F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0"/>
            <a:ext cx="3143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82F77-57ED-4586-A8AF-06EF7F2C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733550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 MBConv groups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320 × 7 × 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5C5BB-6B89-4869-9029-59AA53F7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381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8A07C-F510-4209-8390-B00FCF54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152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 head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1280 × 7 × 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58E9B-5C31-4E1B-AFE2-099920C8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19525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E3D81-D02E-46C5-BD7D-73743146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24250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87170-0932-433C-BE03-EC92C21B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38550"/>
            <a:ext cx="2343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Global average pool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1,280 values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9A663-BC00-4115-8212-DC6585EE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19525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087DB6-963A-4FDF-8236-FC4A5B3B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2190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18610-7400-415E-8C12-70CC8797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38550"/>
            <a:ext cx="1962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Linear 1280 → 10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Ten logits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FE563-F9E5-4CB1-9F8B-1636687E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19525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D5338A-F455-4DC6-9BA0-029F1E47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2095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5E8623-9C0C-472E-972A-DEC3DD7A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38550"/>
            <a:ext cx="1866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Softmax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Ten scores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DD47CA-50C7-4CAA-9517-957C7667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ImageNet initialization. Head training followed by partial backbone fine-tuning.</a:t>
            </a:r>
          </a:p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AdamW and weighted cross-entropy. Checkpoint selection uses validation loss.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5215D-6C4A-46AC-BBFD-1C8C40B2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65% score / quality guard marks uncertain screening. Scores are not calibrated diagnostic probabilities.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2E7648-3F31-44B7-A1E7-54B8A41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71450" cy="476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700A60-5A02-4652-B4F0-E50AFE0B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0375"/>
            <a:ext cx="7858125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42B423-EC98-4701-80E7-FBA625F7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38500"/>
            <a:ext cx="17145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579734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A1989-4610-452F-B5DF-5943A899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Achieved image-classification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CE0B1-5B3E-48C1-B12B-7530B846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DD478-6B37-43EE-AB4C-31C0490C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 accuracy: 85.04%</a:t>
            </a:r>
          </a:p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 macro-F1: 83.59%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982BA-EFCE-427F-A19A-EEA9F787AB38}"/>
              </a:ext>
            </a:extLst>
          </p:cNvPr>
          <p:cNvGraphicFramePr/>
          <p:nvPr/>
        </p:nvGraphicFramePr>
        <p:xfrm>
          <a:off xmlns:a="http://schemas.openxmlformats.org/drawingml/2006/main" x="571500" y="3095625"/>
          <a:ext xmlns:a="http://schemas.openxmlformats.org/drawingml/2006/main" cx="110490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1571625"/>
                <a:gridCol w="4000500"/>
                <a:gridCol w="1571625"/>
              </a:tblGrid>
              <a:tr h="444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Bacterial leaf blight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67.2%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Dead heart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95.0%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Bacterial leaf streak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89.2%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Downy mildew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78.5%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Bacterial panicle blight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95.6%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Hispa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81.4%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Blast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89.6%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Normal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82.2%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Brown spot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81.4%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Tungro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83.7%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68096-CA81-4540-806F-51125B4F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Held-out 1,257 photographs. The weakest class remains bacterial leaf blight.</a:t>
            </a:r>
          </a:p>
        </p:txBody>
      </p:sp>
    </p:spTree>
    <p:extLst>
      <p:ext uri="{BB962C8B-B14F-4D97-AF65-F5344CB8AC3E}">
        <p14:creationId xmlns:p14="http://schemas.microsoft.com/office/powerpoint/2010/main" val="6167357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B27E7-EF7C-4A2E-9C69-998CB039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Interactive stage-level model inspection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E8C55-CDA4-4401-B489-B9328C61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0AB9A-5456-4080-854D-33E28E079333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5524500"/>
              </a:tblGrid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Yield stages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Image stages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Raw and standardized values at every time bin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Uploaded image, processed crop and normalized pixel samples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First and second convolution features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Input / output feature maps for all nine backbone stages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LSTM hidden state at each valid timestep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Global pooled 1,280-dimensional feature vector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43 joined inputs and 64 dense activations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Ten actual classifier logits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Network output and inverse scaling calculation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Softmax scores and the final screening guard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1E0F6-416D-41FF-AE60-1FAD8072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Actual activations help inspect computation. Feature maps do not identify lesion boundaries or causal importance.</a:t>
            </a:r>
          </a:p>
        </p:txBody>
      </p:sp>
    </p:spTree>
    <p:extLst>
      <p:ext uri="{BB962C8B-B14F-4D97-AF65-F5344CB8AC3E}">
        <p14:creationId xmlns:p14="http://schemas.microsoft.com/office/powerpoint/2010/main" val="7638340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A8384-7038-4EE7-8DE8-26428207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Outputs and calculations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A4667-1260-4559-87E6-44F9E549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32CE9-1570-450C-BE4C-56F32889EDB0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96250"/>
              </a:tblGrid>
              <a:tr h="53067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Computation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Yield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CNN–LSTM standardized output × target std + target mean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Production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Yield t/ha × planted rice area ha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Mass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Production tonnes × 1,000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Gross value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Mass kg × optional entered selling price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Input sensitivity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Original prediction minus reference-occluded prediction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Photo result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Highest class score or uncertain result after quality guard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7577F-F714-429B-A65C-01CE50AC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Illustration only: 4.2 t/ha × 12 ha = 50.4 tonnes = 50,400 kg.</a:t>
            </a:r>
          </a:p>
        </p:txBody>
      </p:sp>
    </p:spTree>
    <p:extLst>
      <p:ext uri="{BB962C8B-B14F-4D97-AF65-F5344CB8AC3E}">
        <p14:creationId xmlns:p14="http://schemas.microsoft.com/office/powerpoint/2010/main" val="175972576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2F3DF-9478-4CA3-9C89-D69B84EE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Deployment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63EE6-2517-4BA8-A3FA-3DA8A8E3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19811-A220-4789-87AE-C7F351E2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81087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Windows app runs ONNX inference locally and exports formatted PDFs with selected results and photographs.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Real measured sequences support retrospective evaluation. App weather templates support what-if scenarios.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60-day lead refers to proxy season end, rather than an observed harvest date.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Input sensitivities depend on the chosen reference and do not add to the prediction or prove causality.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Image feature maps show neural activations. The separate 3D symptoms are educational illustrations.</a:t>
            </a:r>
          </a:p>
          <a:p xmlns:a="http://schemas.openxmlformats.org/drawingml/2006/main">
            <a:pPr marL="228600" indent="-114300">
              <a:spcAft>
                <a:spcPts val="1700"/>
              </a:spcAft>
              <a:buChar char="•"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Unseen conditions, farms and missing districts require independent validation.</a:t>
            </a:r>
          </a:p>
        </p:txBody>
      </p:sp>
    </p:spTree>
    <p:extLst>
      <p:ext uri="{BB962C8B-B14F-4D97-AF65-F5344CB8AC3E}">
        <p14:creationId xmlns:p14="http://schemas.microsoft.com/office/powerpoint/2010/main" val="172565562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47308-2F3E-4FFD-AA8D-6FB806F4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Contribution and remaining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4CDF1-0BFD-4FD3-89BE-857202AC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1960D-FECF-4931-B570-5FC3E9EA43E0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5524500"/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Implemented contribution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Next evidence needed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T w="5715">
                      <a:solidFill>
                        <a:srgbClr val="BBBBBB"/>
                      </a:solidFill>
                      <a:prstDash val="solid"/>
                    </a:lnT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Indian rice records with audited weather joins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More measured district-season and field observations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Trained LSTM, 1D CNN and active CNN–LSTM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Prospective validation on newly collected seasons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Ten-class EfficientNet-B0 screening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Independent photographs and weaker-class improvement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Actual input / activation inspection and local PDF export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BBBBBB"/>
                      </a:solidFill>
                      <a:prstDash val="solid"/>
                    </a:lnL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User testing and probability calibration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BBBBBB"/>
                      </a:solidFill>
                      <a:prstDash val="solid"/>
                    </a:lnR>
                    <a:lnB w="571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7CD5F-3587-4532-B2C8-F30B1791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is a primarily deep-learning application. It does not claim a controlled improvement over the base paper.</a:t>
            </a:r>
          </a:p>
        </p:txBody>
      </p:sp>
    </p:spTree>
    <p:extLst>
      <p:ext uri="{BB962C8B-B14F-4D97-AF65-F5344CB8AC3E}">
        <p14:creationId xmlns:p14="http://schemas.microsoft.com/office/powerpoint/2010/main" val="193209983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943FB-A74F-4F79-A859-FC186B0D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References and dataset links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502FC-7201-4749-8E09-1558119F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19E02-B146-4065-B58C-97E0235F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85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 paper</a:t>
            </a:r>
          </a:p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Paudel et al. (2023), Interpretability of deep learning models for crop yield forecasting</a:t>
            </a:r>
          </a:p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https://doi.org/10.1016/j.compag.2023.107663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6DBAF-1F2B-4152-96AA-91694A55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085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Government crop records: data.gov.in</a:t>
            </a:r>
          </a:p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UPAg / DES: ckandev.indiadataportal.com/dataset/area-production-yield-apy</a:t>
            </a:r>
          </a:p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District boundaries: gadm.org/data.html</a:t>
            </a:r>
          </a:p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Daily weather: power.larc.nasa.gov/docs/services/api/temporal/daily/</a:t>
            </a:r>
          </a:p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Rice images: Kaggle Rice Disease Classification competition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DD62D-2293-4B16-B530-A1630F09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Full source links appear in slide notes. Source and app: github.com/ritwik1612/crop-yantra</a:t>
            </a:r>
          </a:p>
        </p:txBody>
      </p:sp>
    </p:spTree>
    <p:extLst>
      <p:ext uri="{BB962C8B-B14F-4D97-AF65-F5344CB8AC3E}">
        <p14:creationId xmlns:p14="http://schemas.microsoft.com/office/powerpoint/2010/main" val="148808028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23142-57F3-42F8-BC07-BAB9D597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Full architecture diagrams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BB4E1-6485-42C7-AB65-F8FDFA13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25547-AC6F-4203-8752-65F15018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Yield prediction: CNN–LSTM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66EFD-9452-4A41-B939-497ECF38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Sources, time-bin inputs, training, neural layers, inference and output calculations.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211FD-4254-4A93-AF17-5B2A95A8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 classification: EfficientNet-B0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97CA1-85C0-4547-B6BA-D3E926C3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 preparation, every backbone stage, classifier inputs, softmax and screening.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7CB10-2102-4682-93E0-DD4F8CBC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u="sng">
                <a:solidFill>
                  <a:srgbClr val="000000"/>
                </a:solidFill>
                <a:latin typeface="Arial"/>
                <a:ea typeface="Arial"/>
                <a:cs typeface="Arial"/>
                <a:hlinkClick xmlns:r="http://schemas.openxmlformats.org/officeDocument/2006/relationships" r:id="R83df2cb47e5e4688"/>
              </a:rPr>
              <a:t>Open full yield diagram (SVG)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74BDE-7D6C-4C5A-AE82-4D8446FA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u="sng">
                <a:solidFill>
                  <a:srgbClr val="000000"/>
                </a:solidFill>
                <a:latin typeface="Arial"/>
                <a:ea typeface="Arial"/>
                <a:cs typeface="Arial"/>
                <a:hlinkClick xmlns:r="http://schemas.openxmlformats.org/officeDocument/2006/relationships" r:id="Re3e3656ae9a74268"/>
              </a:rPr>
              <a:t>Open editable yield Mermaid 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46F5A-10C9-41FC-9E44-CAF87AB2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u="sng">
                <a:solidFill>
                  <a:srgbClr val="000000"/>
                </a:solidFill>
                <a:latin typeface="Arial"/>
                <a:ea typeface="Arial"/>
                <a:cs typeface="Arial"/>
                <a:hlinkClick xmlns:r="http://schemas.openxmlformats.org/officeDocument/2006/relationships" r:id="R4ad2932bdb2141ab"/>
              </a:rPr>
              <a:t>Open full image diagram (SVG)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AF633-D30F-4874-B808-57FF39CE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u="sng">
                <a:solidFill>
                  <a:srgbClr val="000000"/>
                </a:solidFill>
                <a:latin typeface="Arial"/>
                <a:ea typeface="Arial"/>
                <a:cs typeface="Arial"/>
                <a:hlinkClick xmlns:r="http://schemas.openxmlformats.org/officeDocument/2006/relationships" r:id="R86dc34ec4aed4885"/>
              </a:rPr>
              <a:t>Open editable image Mermaid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B04F1-F29D-4410-A312-6ACA11BE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SVG diagrams support zooming. Mermaid sources allow further editing and rendering.</a:t>
            </a:r>
          </a:p>
        </p:txBody>
      </p:sp>
    </p:spTree>
    <p:extLst>
      <p:ext uri="{BB962C8B-B14F-4D97-AF65-F5344CB8AC3E}">
        <p14:creationId xmlns:p14="http://schemas.microsoft.com/office/powerpoint/2010/main" val="523245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2026-10-23T04:40:55.2970000Z</dcterms:created>
  <dcterms:modified xsi:type="dcterms:W3CDTF">2026-10-23T04:40:55.2970000Z</dcterms:modified>
</coreProperties>
</file>
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744f8b5534704" /><Relationship Type="http://schemas.openxmlformats.org/officeDocument/2006/relationships/extended-properties" Target="/docProps/app.xml" Id="R7d25265c9ad843cb" /><Relationship Type="http://schemas.openxmlformats.org/officeDocument/2006/relationships/officeDocument" Target="/ppt/presentation.xml" Id="Rbb5eeb2a46d8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07fc408c0424d"/>
  </p:sldMasterIdLst>
  <p:notesMasterIdLst>
    <p:notesMasterId xmlns:r="http://schemas.openxmlformats.org/officeDocument/2006/relationships" r:id="R71275b4bfa244b2f"/>
  </p:notesMasterIdLst>
  <p:sldIdLst>
    <p:sldId xmlns:r="http://schemas.openxmlformats.org/officeDocument/2006/relationships" id="256" r:id="R439f5d735de44655"/>
    <p:sldId xmlns:r="http://schemas.openxmlformats.org/officeDocument/2006/relationships" id="257" r:id="Rd1c26e58a7cc4daa"/>
    <p:sldId xmlns:r="http://schemas.openxmlformats.org/officeDocument/2006/relationships" id="258" r:id="R00c003de3e324854"/>
    <p:sldId xmlns:r="http://schemas.openxmlformats.org/officeDocument/2006/relationships" id="259" r:id="Rba548e72189449b9"/>
    <p:sldId xmlns:r="http://schemas.openxmlformats.org/officeDocument/2006/relationships" id="260" r:id="Rffa5cc9de79a4161"/>
    <p:sldId xmlns:r="http://schemas.openxmlformats.org/officeDocument/2006/relationships" id="261" r:id="Rf3fe0f0cc4044713"/>
    <p:sldId xmlns:r="http://schemas.openxmlformats.org/officeDocument/2006/relationships" id="262" r:id="Rcf7fdddeea1742be"/>
    <p:sldId xmlns:r="http://schemas.openxmlformats.org/officeDocument/2006/relationships" id="263" r:id="R2d659be9bc8c468b"/>
    <p:sldId xmlns:r="http://schemas.openxmlformats.org/officeDocument/2006/relationships" id="264" r:id="Rcab34e20bd2b48be"/>
    <p:sldId xmlns:r="http://schemas.openxmlformats.org/officeDocument/2006/relationships" id="265" r:id="R14f18f3eef71487c"/>
    <p:sldId xmlns:r="http://schemas.openxmlformats.org/officeDocument/2006/relationships" id="266" r:id="R9dc237a0f110447b"/>
    <p:sldId xmlns:r="http://schemas.openxmlformats.org/officeDocument/2006/relationships" id="267" r:id="R492029406eab4463"/>
    <p:sldId xmlns:r="http://schemas.openxmlformats.org/officeDocument/2006/relationships" id="268" r:id="R8d76660b468d4907"/>
    <p:sldId xmlns:r="http://schemas.openxmlformats.org/officeDocument/2006/relationships" id="269" r:id="Ra6a8992465b340fa"/>
    <p:sldId xmlns:r="http://schemas.openxmlformats.org/officeDocument/2006/relationships" id="270" r:id="Rd1bbfd0c7597448f"/>
    <p:sldId xmlns:r="http://schemas.openxmlformats.org/officeDocument/2006/relationships" id="271" r:id="Rf9d59848517f46f6"/>
    <p:sldId xmlns:r="http://schemas.openxmlformats.org/officeDocument/2006/relationships" id="272" r:id="R9c7e0e85875c4194"/>
    <p:sldId xmlns:r="http://schemas.openxmlformats.org/officeDocument/2006/relationships" id="273" r:id="R8de6fa060b294db3"/>
    <p:sldId xmlns:r="http://schemas.openxmlformats.org/officeDocument/2006/relationships" id="274" r:id="R8d524e25620448ff"/>
    <p:sldId xmlns:r="http://schemas.openxmlformats.org/officeDocument/2006/relationships" id="275" r:id="R1d4085e096164442"/>
    <p:sldId xmlns:r="http://schemas.openxmlformats.org/officeDocument/2006/relationships" id="276" r:id="R24ed2578c95b4c58"/>
    <p:sldId xmlns:r="http://schemas.openxmlformats.org/officeDocument/2006/relationships" id="277" r:id="R9a982b00d5da4054"/>
    <p:sldId xmlns:r="http://schemas.openxmlformats.org/officeDocument/2006/relationships" id="278" r:id="R0a3d3cecdbc34e78"/>
    <p:sldId xmlns:r="http://schemas.openxmlformats.org/officeDocument/2006/relationships" id="279" r:id="R1813e5365be844ec"/>
    <p:sldId xmlns:r="http://schemas.openxmlformats.org/officeDocument/2006/relationships" id="280" r:id="R016d8180f9e947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6b73a31254ad7" /><Relationship Type="http://schemas.openxmlformats.org/officeDocument/2006/relationships/slideMaster" Target="/ppt/slideMasters/slideMaster1.xml" Id="Rc5807fc408c0424d" /><Relationship Type="http://schemas.openxmlformats.org/officeDocument/2006/relationships/notesMaster" Target="/ppt/notesMasters/notesMaster1.xml" Id="R71275b4bfa244b2f" /><Relationship Type="http://schemas.openxmlformats.org/officeDocument/2006/relationships/presProps" Target="/ppt/presProps.xml" Id="Rfc7205bacd18499d" /><Relationship Type="http://schemas.openxmlformats.org/officeDocument/2006/relationships/tableStyles" Target="/ppt/tableStyles.xml" Id="R688ce1afdd154958" /><Relationship Type="http://schemas.openxmlformats.org/officeDocument/2006/relationships/slide" Target="/ppt/slides/slide1.xml" Id="R439f5d735de44655" /><Relationship Type="http://schemas.openxmlformats.org/officeDocument/2006/relationships/slide" Target="/ppt/slides/slide2.xml" Id="Rd1c26e58a7cc4daa" /><Relationship Type="http://schemas.openxmlformats.org/officeDocument/2006/relationships/slide" Target="/ppt/slides/slide3.xml" Id="R00c003de3e324854" /><Relationship Type="http://schemas.openxmlformats.org/officeDocument/2006/relationships/slide" Target="/ppt/slides/slide4.xml" Id="Rba548e72189449b9" /><Relationship Type="http://schemas.openxmlformats.org/officeDocument/2006/relationships/slide" Target="/ppt/slides/slide5.xml" Id="Rffa5cc9de79a4161" /><Relationship Type="http://schemas.openxmlformats.org/officeDocument/2006/relationships/slide" Target="/ppt/slides/slide6.xml" Id="Rf3fe0f0cc4044713" /><Relationship Type="http://schemas.openxmlformats.org/officeDocument/2006/relationships/slide" Target="/ppt/slides/slide7.xml" Id="Rcf7fdddeea1742be" /><Relationship Type="http://schemas.openxmlformats.org/officeDocument/2006/relationships/slide" Target="/ppt/slides/slide8.xml" Id="R2d659be9bc8c468b" /><Relationship Type="http://schemas.openxmlformats.org/officeDocument/2006/relationships/slide" Target="/ppt/slides/slide9.xml" Id="Rcab34e20bd2b48be" /><Relationship Type="http://schemas.openxmlformats.org/officeDocument/2006/relationships/slide" Target="/ppt/slides/slide10.xml" Id="R14f18f3eef71487c" /><Relationship Type="http://schemas.openxmlformats.org/officeDocument/2006/relationships/slide" Target="/ppt/slides/slide11.xml" Id="R9dc237a0f110447b" /><Relationship Type="http://schemas.openxmlformats.org/officeDocument/2006/relationships/slide" Target="/ppt/slides/slide12.xml" Id="R492029406eab4463" /><Relationship Type="http://schemas.openxmlformats.org/officeDocument/2006/relationships/slide" Target="/ppt/slides/slide13.xml" Id="R8d76660b468d4907" /><Relationship Type="http://schemas.openxmlformats.org/officeDocument/2006/relationships/slide" Target="/ppt/slides/slide14.xml" Id="Ra6a8992465b340fa" /><Relationship Type="http://schemas.openxmlformats.org/officeDocument/2006/relationships/slide" Target="/ppt/slides/slide15.xml" Id="Rd1bbfd0c7597448f" /><Relationship Type="http://schemas.openxmlformats.org/officeDocument/2006/relationships/slide" Target="/ppt/slides/slide16.xml" Id="Rf9d59848517f46f6" /><Relationship Type="http://schemas.openxmlformats.org/officeDocument/2006/relationships/slide" Target="/ppt/slides/slide17.xml" Id="R9c7e0e85875c4194" /><Relationship Type="http://schemas.openxmlformats.org/officeDocument/2006/relationships/slide" Target="/ppt/slides/slide18.xml" Id="R8de6fa060b294db3" /><Relationship Type="http://schemas.openxmlformats.org/officeDocument/2006/relationships/slide" Target="/ppt/slides/slide19.xml" Id="R8d524e25620448ff" /><Relationship Type="http://schemas.openxmlformats.org/officeDocument/2006/relationships/slide" Target="/ppt/slides/slide20.xml" Id="R1d4085e096164442" /><Relationship Type="http://schemas.openxmlformats.org/officeDocument/2006/relationships/slide" Target="/ppt/slides/slide21.xml" Id="R24ed2578c95b4c58" /><Relationship Type="http://schemas.openxmlformats.org/officeDocument/2006/relationships/slide" Target="/ppt/slides/slide22.xml" Id="R9a982b00d5da4054" /><Relationship Type="http://schemas.openxmlformats.org/officeDocument/2006/relationships/slide" Target="/ppt/slides/slide23.xml" Id="R0a3d3cecdbc34e78" /><Relationship Type="http://schemas.openxmlformats.org/officeDocument/2006/relationships/slide" Target="/ppt/slides/slide24.xml" Id="R1813e5365be844ec" /><Relationship Type="http://schemas.openxmlformats.org/officeDocument/2006/relationships/slide" Target="/ppt/slides/slide25.xml" Id="R016d8180f9e9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50b78910ea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675a03b1824023" /><Relationship Type="http://schemas.openxmlformats.org/officeDocument/2006/relationships/notesMaster" Target="/ppt/notesMasters/notesMaster1.xml" Id="R6c153642489d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6ca1e210304408" /><Relationship Type="http://schemas.openxmlformats.org/officeDocument/2006/relationships/notesMaster" Target="/ppt/notesMasters/notesMaster1.xml" Id="R4ea343313960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1b73e7cea4ec5" /><Relationship Type="http://schemas.openxmlformats.org/officeDocument/2006/relationships/notesMaster" Target="/ppt/notesMasters/notesMaster1.xml" Id="R1d5de66fb9e341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2c3a20be994094" /><Relationship Type="http://schemas.openxmlformats.org/officeDocument/2006/relationships/notesMaster" Target="/ppt/notesMasters/notesMaster1.xml" Id="R8bc6dbce3b34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e301a1acff4b10" /><Relationship Type="http://schemas.openxmlformats.org/officeDocument/2006/relationships/notesMaster" Target="/ppt/notesMasters/notesMaster1.xml" Id="R17380383b56440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e4641b17140a2" /><Relationship Type="http://schemas.openxmlformats.org/officeDocument/2006/relationships/notesMaster" Target="/ppt/notesMasters/notesMaster1.xml" Id="Rf03f982d15f64b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584ca768d41d7" /><Relationship Type="http://schemas.openxmlformats.org/officeDocument/2006/relationships/notesMaster" Target="/ppt/notesMasters/notesMaster1.xml" Id="R8ccd8d67f7af45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7a9c826ce401e" /><Relationship Type="http://schemas.openxmlformats.org/officeDocument/2006/relationships/notesMaster" Target="/ppt/notesMasters/notesMaster1.xml" Id="R376397d6274d49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15f4f0cbca45ef" /><Relationship Type="http://schemas.openxmlformats.org/officeDocument/2006/relationships/notesMaster" Target="/ppt/notesMasters/notesMaster1.xml" Id="R0562b19e7f5944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18456068374e98" /><Relationship Type="http://schemas.openxmlformats.org/officeDocument/2006/relationships/notesMaster" Target="/ppt/notesMasters/notesMaster1.xml" Id="R20329a32805543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dfd59d16e4c65" /><Relationship Type="http://schemas.openxmlformats.org/officeDocument/2006/relationships/notesMaster" Target="/ppt/notesMasters/notesMaster1.xml" Id="Rfe900618666645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c221ec2b6b43ce" /><Relationship Type="http://schemas.openxmlformats.org/officeDocument/2006/relationships/notesMaster" Target="/ppt/notesMasters/notesMaster1.xml" Id="R8a78c1608946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883d1a839f4d3c" /><Relationship Type="http://schemas.openxmlformats.org/officeDocument/2006/relationships/notesMaster" Target="/ppt/notesMasters/notesMaster1.xml" Id="Rc17d9e522c3b44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3c485e755a48dc" /><Relationship Type="http://schemas.openxmlformats.org/officeDocument/2006/relationships/notesMaster" Target="/ppt/notesMasters/notesMaster1.xml" Id="R6b3a92cfb84b45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1507f399f64706" /><Relationship Type="http://schemas.openxmlformats.org/officeDocument/2006/relationships/notesMaster" Target="/ppt/notesMasters/notesMaster1.xml" Id="R6eb205b4e60243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c58543ec604335" /><Relationship Type="http://schemas.openxmlformats.org/officeDocument/2006/relationships/notesMaster" Target="/ppt/notesMasters/notesMaster1.xml" Id="R4b36fb299f0945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2fd04ef79d4535" /><Relationship Type="http://schemas.openxmlformats.org/officeDocument/2006/relationships/notesMaster" Target="/ppt/notesMasters/notesMaster1.xml" Id="R7f9649fb1e1b4a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a3f022c1f74b7a" /><Relationship Type="http://schemas.openxmlformats.org/officeDocument/2006/relationships/notesMaster" Target="/ppt/notesMasters/notesMaster1.xml" Id="R7e730f5f8caa43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540a1c8f614499" /><Relationship Type="http://schemas.openxmlformats.org/officeDocument/2006/relationships/notesMaster" Target="/ppt/notesMasters/notesMaster1.xml" Id="R9c7d4c84d18e41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7fa57b42a04aee" /><Relationship Type="http://schemas.openxmlformats.org/officeDocument/2006/relationships/notesMaster" Target="/ppt/notesMasters/notesMaster1.xml" Id="R2e5c987f42624b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b31163237a426f" /><Relationship Type="http://schemas.openxmlformats.org/officeDocument/2006/relationships/notesMaster" Target="/ppt/notesMasters/notesMaster1.xml" Id="R5c0bddf659ec48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71001b30c64343" /><Relationship Type="http://schemas.openxmlformats.org/officeDocument/2006/relationships/notesMaster" Target="/ppt/notesMasters/notesMaster1.xml" Id="R99943f95222b41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0c17c07b5b41ba" /><Relationship Type="http://schemas.openxmlformats.org/officeDocument/2006/relationships/notesMaster" Target="/ppt/notesMasters/notesMaster1.xml" Id="R2544cd21539f41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e01b00cf13475d" /><Relationship Type="http://schemas.openxmlformats.org/officeDocument/2006/relationships/notesMaster" Target="/ppt/notesMasters/notesMaster1.xml" Id="R8eff9e47786c47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5b7ce0a11a4190" /><Relationship Type="http://schemas.openxmlformats.org/officeDocument/2006/relationships/notesMaster" Target="/ppt/notesMasters/notesMaster1.xml" Id="Rac2de869ae004f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>Original source links: https://data.gov.in/resource/district-wise-season-wise-crop-production-statistics-1997 ; https://gadm.org/data.html ; https://gadm.org/license.html ; https://power.larc.nasa.gov/docs/services/api/temporal/daily/ . The saved weather extract includes derived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376449c654c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eed6c9d454a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baf1cede44e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60ac2d76043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12f519b4841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89f53ce6e49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ED78C5-1C6E-4574-8395-B8B94BC88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5AFB7A-7801-4297-A376-2A34743F4F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99DA5F-CA3A-45F2-84E3-69545D01A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01D6C-6ADF-43FB-A7FD-A3D1DC93E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212465-9CDF-49E0-BAF5-FE60F15D7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1769A6-EEEB-4AF1-A33C-65FBCFF7F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F629C7-43B4-406C-9633-C278F7CD2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65E88B-706F-42F3-96DF-6D9889F771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36F06F-D06D-4219-832B-DCDE37D53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7D3857-04A5-4C62-B031-D237D6BBFF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72c86eadc24616" /><Relationship Type="http://schemas.openxmlformats.org/officeDocument/2006/relationships/slideLayout" Target="/ppt/slideLayouts/slideLayout1.xml" Id="R9d03115b8ec4406e" /><Relationship Type="http://schemas.openxmlformats.org/officeDocument/2006/relationships/slideLayout" Target="/ppt/slideLayouts/slideLayout2.xml" Id="Rf36e849fcf804e45" /><Relationship Type="http://schemas.openxmlformats.org/officeDocument/2006/relationships/slideLayout" Target="/ppt/slideLayouts/slideLayout3.xml" Id="Rb20ee128d9ff46f0" /><Relationship Type="http://schemas.openxmlformats.org/officeDocument/2006/relationships/slideLayout" Target="/ppt/slideLayouts/slideLayout4.xml" Id="Rbc3e31fb2e36477f" /><Relationship Type="http://schemas.openxmlformats.org/officeDocument/2006/relationships/slideLayout" Target="/ppt/slideLayouts/slideLayout5.xml" Id="Red427f009c8f4044" /><Relationship Type="http://schemas.openxmlformats.org/officeDocument/2006/relationships/slideLayout" Target="/ppt/slideLayouts/slideLayout6.xml" Id="Rc08b65cecc3649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3115b8ec4406e"/>
    <p:sldLayoutId xmlns:r="http://schemas.openxmlformats.org/officeDocument/2006/relationships" id="2147483650" r:id="Rf36e849fcf804e45"/>
    <p:sldLayoutId xmlns:r="http://schemas.openxmlformats.org/officeDocument/2006/relationships" id="2147483651" r:id="Rb20ee128d9ff46f0"/>
    <p:sldLayoutId xmlns:r="http://schemas.openxmlformats.org/officeDocument/2006/relationships" id="2147483652" r:id="Rbc3e31fb2e36477f"/>
    <p:sldLayoutId xmlns:r="http://schemas.openxmlformats.org/officeDocument/2006/relationships" id="2147483653" r:id="Red427f009c8f4044"/>
    <p:sldLayoutId xmlns:r="http://schemas.openxmlformats.org/officeDocument/2006/relationships" id="2147483654" r:id="Rc08b65cecc3649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f2815e7244a59" /><Relationship Type="http://schemas.openxmlformats.org/officeDocument/2006/relationships/notesSlide" Target="/ppt/notesSlides/notesSlide1.xml" Id="Ra3c2c789edde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9a460511942c6" /><Relationship Type="http://schemas.openxmlformats.org/officeDocument/2006/relationships/notesSlide" Target="/ppt/notesSlides/notesSlide2.xml" Id="R2987cf23b4fc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de3711e874086" /><Relationship Type="http://schemas.openxmlformats.org/officeDocument/2006/relationships/notesSlide" Target="/ppt/notesSlides/notesSlide3.xml" Id="R9566108d756649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13504ef32487b" /><Relationship Type="http://schemas.openxmlformats.org/officeDocument/2006/relationships/notesSlide" Target="/ppt/notesSlides/notesSlide4.xml" Id="R959cd384825d4b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10651f13c4469" /><Relationship Type="http://schemas.openxmlformats.org/officeDocument/2006/relationships/notesSlide" Target="/ppt/notesSlides/notesSlide5.xml" Id="R62ca0311a0444e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59159f3a4453b" /><Relationship Type="http://schemas.openxmlformats.org/officeDocument/2006/relationships/notesSlide" Target="/ppt/notesSlides/notesSlide6.xml" Id="R1e4ebfc2100241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bc32f36464506" /><Relationship Type="http://schemas.openxmlformats.org/officeDocument/2006/relationships/notesSlide" Target="/ppt/notesSlides/notesSlide7.xml" Id="Ra64c5c765b7a49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04553ef454bef" /><Relationship Type="http://schemas.openxmlformats.org/officeDocument/2006/relationships/notesSlide" Target="/ppt/notesSlides/notesSlide8.xml" Id="R24e6a37f991949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4cf41cc4545d3" /><Relationship Type="http://schemas.openxmlformats.org/officeDocument/2006/relationships/notesSlide" Target="/ppt/notesSlides/notesSlide9.xml" Id="R160acf3e8a1d42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502e03c05430c" /><Relationship Type="http://schemas.openxmlformats.org/officeDocument/2006/relationships/notesSlide" Target="/ppt/notesSlides/notesSlide10.xml" Id="R4a158262017346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4690da9b64e45" /><Relationship Type="http://schemas.openxmlformats.org/officeDocument/2006/relationships/notesSlide" Target="/ppt/notesSlides/notesSlide11.xml" Id="Re12b9f1917ae42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d10aa14f74114" /><Relationship Type="http://schemas.openxmlformats.org/officeDocument/2006/relationships/notesSlide" Target="/ppt/notesSlides/notesSlide12.xml" Id="Rc0df467adaa24e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c97c1810e4845" /><Relationship Type="http://schemas.openxmlformats.org/officeDocument/2006/relationships/notesSlide" Target="/ppt/notesSlides/notesSlide13.xml" Id="R56b049412b5d43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2988ca31c4b9e" /><Relationship Type="http://schemas.openxmlformats.org/officeDocument/2006/relationships/notesSlide" Target="/ppt/notesSlides/notesSlide14.xml" Id="Ref020044e1874a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f3133544b4bde" /><Relationship Type="http://schemas.openxmlformats.org/officeDocument/2006/relationships/notesSlide" Target="/ppt/notesSlides/notesSlide15.xml" Id="Rfb38072f244448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11a7bd78143ef" /><Relationship Type="http://schemas.openxmlformats.org/officeDocument/2006/relationships/notesSlide" Target="/ppt/notesSlides/notesSlide16.xml" Id="R7b3973a381f045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6ff4d7a5340ef" /><Relationship Type="http://schemas.openxmlformats.org/officeDocument/2006/relationships/notesSlide" Target="/ppt/notesSlides/notesSlide17.xml" Id="Rbe5eb4fe213e44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7094bf2a1460c" /><Relationship Type="http://schemas.openxmlformats.org/officeDocument/2006/relationships/notesSlide" Target="/ppt/notesSlides/notesSlide18.xml" Id="R6f6d4791ae7345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4825a5aec447a" /><Relationship Type="http://schemas.openxmlformats.org/officeDocument/2006/relationships/notesSlide" Target="/ppt/notesSlides/notesSlide19.xml" Id="Rac6f48f0f59845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14d3e6b4d4766" /><Relationship Type="http://schemas.openxmlformats.org/officeDocument/2006/relationships/notesSlide" Target="/ppt/notesSlides/notesSlide20.xml" Id="R8c13ba4929d346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cf0681f9e4cd9" /><Relationship Type="http://schemas.openxmlformats.org/officeDocument/2006/relationships/notesSlide" Target="/ppt/notesSlides/notesSlide21.xml" Id="R11231a0852a648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7f6f4939e47a2" /><Relationship Type="http://schemas.openxmlformats.org/officeDocument/2006/relationships/notesSlide" Target="/ppt/notesSlides/notesSlide22.xml" Id="Re580cd2edddc42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695bef29d4762" /><Relationship Type="http://schemas.openxmlformats.org/officeDocument/2006/relationships/notesSlide" Target="/ppt/notesSlides/notesSlide23.xml" Id="R4fe55cbe30b14c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7919f8a47474c" /><Relationship Type="http://schemas.openxmlformats.org/officeDocument/2006/relationships/notesSlide" Target="/ppt/notesSlides/notesSlide24.xml" Id="R56e7e2c2cf1f46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86e6977c04ada" /><Relationship Type="http://schemas.openxmlformats.org/officeDocument/2006/relationships/notesSlide" Target="/ppt/notesSlides/notesSlide25.xml" Id="R1df638a528f5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0C527-D3ED-4F3B-8A56-DECC71A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73229-ED62-4E54-8EDD-8838EEFA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9328-DD01-4912-9E5E-CE21B831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47711-5569-4466-8250-2B7D87F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Raw sources to training-ready CSVs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C37B5-6639-4578-98D8-E14F94E0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South Indian rice observations</a:t>
            </a:r>
          </a:p>
          <a:p xmlns:a="http://schemas.openxmlformats.org/drawingml/2006/main">
            <a: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District, crop year and season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655CB-976C-47DD-8833-7130559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Government crop statistics + GADM locations + NASA weather</a:t>
            </a:r>
          </a:p>
        </p:txBody>
      </p:sp>
    </p:spTree>
    <p:extLst>
      <p:ext uri="{BB962C8B-B14F-4D97-AF65-F5344CB8AC3E}">
        <p14:creationId xmlns:p14="http://schemas.microsoft.com/office/powerpoint/2010/main" val="1610918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6D8E1-76E2-44ED-87BD-FA4747F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Dataset preparation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D5C16-174B-4900-873D-E35D5E58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86452-0C87-43AD-9D62-0AD563D9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6C077-4E25-496C-9EC2-4CA388A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BF02E-BB11-4216-933B-B0D6E47B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RAW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DE66D-85D1-4BFE-8776-C68928C6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Crop statistics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boundaries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FC60-AE06-4B9F-A777-D27335F1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288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44684-94FB-42FC-9573-6D0B825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8E0BC-BC1E-4F61-B0DB-6F33659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73A61-3AEF-4C2C-8EC6-4057703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 records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Matching fields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Weather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A00DF-BB23-4B95-B0C1-FCD9050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288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38E97-D97A-4C14-94D9-BF9AF0C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43723-6A3A-475B-AFAA-D2DAABAC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F923A-0EB1-42C8-AC5A-25130AD5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identity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Year and season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Seasonal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A69ED-A99E-48C1-9665-85E0E148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3D8B3-BDF1-4C2E-A25A-557889A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8FCC7-6F12-41A2-9E6F-B8B16D4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Scale and encode; optionally learn DAE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F709C-507A-4A2D-A750-C703DEA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F18ED-09DC-43BF-A213-27C5A58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22B04-A69D-40DF-B802-D783FDD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CAFC9-7F10-42E5-8401-C591D62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and DAE train / validation / test CSVs</a:t>
            </a:r>
          </a:p>
        </p:txBody>
      </p:sp>
    </p:spTree>
    <p:extLst>
      <p:ext uri="{BB962C8B-B14F-4D97-AF65-F5344CB8AC3E}">
        <p14:creationId xmlns:p14="http://schemas.microsoft.com/office/powerpoint/2010/main" val="791247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C840-ADC2-47AF-8478-F40A3E46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Downloaded and assembled raw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0BE1-8BAD-45A7-B9E4-CEAD0CC6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FFB6B-856D-429C-8F8D-48A19D9E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7CC94-0D9D-4DDE-B415-71CB0BE0CA1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72000"/>
                <a:gridCol w="3714750"/>
              </a:tblGrid>
              <a:tr h="833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files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 level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Government crop statistics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crop_statistics.csv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District, crop, 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GADM 4.1 district boundaries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india_districts.csv</a:t>
                      </a:r>
                    </a:p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boundary_coordinates.csv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properties</a:t>
                      </a:r>
                    </a:p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Ordered boundary vertices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NASA POWER daily extract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daily_weather.csv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and 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50F51-4470-4ADC-ABE3-E802D4D8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GADM originally arrived as zipped GeoJSON. The active folder now contains CSVs preserving all 676 districts and 275,432 vertices.</a:t>
            </a:r>
          </a:p>
        </p:txBody>
      </p:sp>
    </p:spTree>
    <p:extLst>
      <p:ext uri="{BB962C8B-B14F-4D97-AF65-F5344CB8AC3E}">
        <p14:creationId xmlns:p14="http://schemas.microsoft.com/office/powerpoint/2010/main" val="380970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D3D94-3FCF-4E8D-979E-2D46F88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Three source families feed one seasonal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F36F0-5E97-4B29-A531-8E88449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3CF6B-6C36-4D66-8827-B37A5610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BBADA-1A95-4964-8615-7483A40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26D38-1DA6-4EEF-ADB6-A42367B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CROP STATISTICS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7C5DF-885C-43AF-A262-AB697E07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Area and production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District, year, season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1AE4F-EF13-4B3C-A98A-4A5396A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4B52F-FE4D-446F-BAE2-A516574C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66875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BE193-863A-468E-93BA-C53D1394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57425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names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Longitude and latitude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B5CE7-7B3F-4946-98B6-3D9DF7A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260BF-2B76-44BF-9DDA-050C7F67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66875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B2A09-1688-411F-BA8F-4BD9EC9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57425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ID and date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10 weather channels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970FE-AA43-4C34-95D3-C87164A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9925"/>
            <a:ext cx="238125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CA501-1EF7-4937-B8B7-B4791AF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9925"/>
            <a:ext cx="238125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5E22F-65C1-40C9-B035-616852A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9925"/>
            <a:ext cx="238125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E97D1-4A38-44D4-BA5A-584D5299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869A-0F64-46D7-A321-11015391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MATCH AND AGGREGATE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D9B20-8710-49AD-928D-720A7B2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Match district names. Link weather dates to crop year and season. Summarize complete daily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314A3-A696-48F9-9F9C-E23A010A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2381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27BC6-9ACF-411F-9514-24A74119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150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One row per district, crop year and season</a:t>
            </a:r>
          </a:p>
        </p:txBody>
      </p:sp>
    </p:spTree>
    <p:extLst>
      <p:ext uri="{BB962C8B-B14F-4D97-AF65-F5344CB8AC3E}">
        <p14:creationId xmlns:p14="http://schemas.microsoft.com/office/powerpoint/2010/main" val="262432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2FB90-3CC2-4FFC-9361-E35DB3E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Crop-statistics feature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BE841-AE93-47E8-A354-ECFAEE4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0E0B-C5FB-4E94-A95F-9B62649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A7A2E-292B-4428-99FB-6BF69908280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9100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fields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or calculated fields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District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DISTRICT, IDREGION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Regional context and district matching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 = Rice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Filter rice / paddy records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Weather alignment and time splits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CROP_AREA, AREA_FRACTION,</a:t>
                      </a:r>
                    </a:p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CROP_AREA_LOG1P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Cultivation area and relative scale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Production + 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PRODUCTION_TONNES, YIELD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Calculate yield = production / 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A3151-3E48-4056-8B8F-48C7409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Keep valid records from four states. Recompute yield rather than copying raw Yield. Production stays outside predictor inputs to prevent leakage.</a:t>
            </a:r>
          </a:p>
        </p:txBody>
      </p:sp>
    </p:spTree>
    <p:extLst>
      <p:ext uri="{BB962C8B-B14F-4D97-AF65-F5344CB8AC3E}">
        <p14:creationId xmlns:p14="http://schemas.microsoft.com/office/powerpoint/2010/main" val="1460961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D30E-1DDD-40A7-A7D4-1C680BB9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features and matching fields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6E13-680D-4D8C-8721-837B96B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5F5F3-46FB-4FA3-B701-A50CA5A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A3E9-E5F2-442C-806E-DD36B816FBB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1437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 information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in the dataset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NAME_1 and NAME_2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Match state and district names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Longitude / latitude vertices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vertices to obtain CENTROID_X and CENTROID_Y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GID_2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Link district properties to boundary_coordinates.csv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Other GADM codes, names and types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Retain in the district source CSV for traceability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1680B-2778-4AA7-A2A7-BCBC81C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merge uses representative longitude and latitude. These averages reproduce the original pipeline and are not area-weighted geographic centroids.</a:t>
            </a:r>
          </a:p>
        </p:txBody>
      </p:sp>
    </p:spTree>
    <p:extLst>
      <p:ext uri="{BB962C8B-B14F-4D97-AF65-F5344CB8AC3E}">
        <p14:creationId xmlns:p14="http://schemas.microsoft.com/office/powerpoint/2010/main" val="1383733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B3C8E-714F-4A40-AE09-0A68E618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 features become seasonal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39E01-470D-4B6E-A403-7F0973E3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3C188-E804-45A2-A4A4-4A7EF7D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C7B88-091B-4C45-B91D-CF61C5F1F68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333750"/>
                <a:gridCol w="6000750"/>
              </a:tblGrid>
              <a:tr h="50601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field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maximum 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TMIN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TMIN_MEAN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minimum temperature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mean 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VPRES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VPRES_MEAN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vapour pressure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WSPD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WSPD_MEAN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wind 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RELH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RELH_MEAN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relative humidity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PS_MEAN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surface pressure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23ACD-02C5-4C33-AA96-D6E130A3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IDREGION identifies the district. DATE determines which season receives each daily record.</a:t>
            </a:r>
          </a:p>
        </p:txBody>
      </p:sp>
    </p:spTree>
    <p:extLst>
      <p:ext uri="{BB962C8B-B14F-4D97-AF65-F5344CB8AC3E}">
        <p14:creationId xmlns:p14="http://schemas.microsoft.com/office/powerpoint/2010/main" val="407972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A2A7-3EF2-4ECB-850E-9085CD9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Weather totals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8694-10DA-443D-90B6-9678CE5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025E2-5DA5-4993-8852-CC3828F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88C32-5EDD-4FDC-AEDD-25E1A4AA3839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5048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information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rainfall total in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ET0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ET0_TOTAL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NASA EVLAND land evaporation in mm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solar radiation in kWh/m²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Complete daily records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WEATHER_DAY_COUNT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Number of days used in the summary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DD66A-7BDB-406A-BFCC-9C7CB0BA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Use a day only when all ten weather channels are finite. Require at least 60 complete days per crop observation. IDCOVER is excluded from the final predictors.</a:t>
            </a:r>
          </a:p>
        </p:txBody>
      </p:sp>
    </p:spTree>
    <p:extLst>
      <p:ext uri="{BB962C8B-B14F-4D97-AF65-F5344CB8AC3E}">
        <p14:creationId xmlns:p14="http://schemas.microsoft.com/office/powerpoint/2010/main" val="1169825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DDEC7-7A41-4BEC-8A69-5823E11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matching across the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C6BB-8B9A-479C-985C-7CFDA9EF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948E4-4843-4DD3-8888-98654DEA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5CFAA-9686-411C-A47E-D3A33E3C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C4F4C-CE7E-4FC4-8934-E38664B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51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GOVERNMENT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35977-D43A-4E6F-A0FE-3E10BA5B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451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Andhra Pradesh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ADILABAD, 2001, Kharif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CED9A-EB19-4091-B138-29C455D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CDB85-A35A-474C-828F-84DF891D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2125"/>
            <a:ext cx="451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GADM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7648A-9820-44C7-8979-18921F1F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52675"/>
            <a:ext cx="451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Telangana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 district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E8669-CF21-4EF0-9542-FFCD023D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Normalize case, spaces and punctuation. Try matching state + district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CCAE-42E2-4D98-AFA5-E4B08470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If the state match fails, use a district name unique across the four selected states. Record MATCH_STATUS = historical_state_crosswalk.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2360B-3795-4E72-A771-B37111A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Common project ID: IND_ANDHRAPRADESH_ADILABAD</a:t>
            </a:r>
          </a:p>
        </p:txBody>
      </p:sp>
    </p:spTree>
    <p:extLst>
      <p:ext uri="{BB962C8B-B14F-4D97-AF65-F5344CB8AC3E}">
        <p14:creationId xmlns:p14="http://schemas.microsoft.com/office/powerpoint/2010/main" val="1925592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1159-1489-499D-9B7C-1EE4F7A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Year and season link crop records to weather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79CC3-5C5E-4563-A9C9-22FAD7C1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E749E-ABE4-4166-BF2A-A4065B2A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6BF97-B5B0-4AC9-888E-F2B6DEB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Final join key: (IDREGION, FYEAR, SEASON)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91D45-35CD-4EF5-9492-8A153AA67434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334250"/>
              </a:tblGrid>
              <a:tr h="5000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Season for crop year Y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Weather window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Kharif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June–November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Rabi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November–December of Y−1 and January–April of 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Summer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March–June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Autumn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September–December of 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Winter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December of Y−1 and January–March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28A60-8E1A-4037-BBA3-FAD02EA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 / 2001 / Kharif receives June–November 2001 weather. Summarize many daily rows into one seasonal row. These windows are fixed project assumptions.</a:t>
            </a:r>
          </a:p>
        </p:txBody>
      </p:sp>
    </p:spTree>
    <p:extLst>
      <p:ext uri="{BB962C8B-B14F-4D97-AF65-F5344CB8AC3E}">
        <p14:creationId xmlns:p14="http://schemas.microsoft.com/office/powerpoint/2010/main" val="655263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B984-5450-4CDB-83EB-0463A8B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 collapses into one seasonal 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40456-40F6-41D5-85BE-BC7C4D0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CE400-D447-441C-9537-F37C1946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96FFA-1405-4543-B4CE-FC4F2FA050CB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33425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571750"/>
              </a:tblGrid>
              <a:tr h="48815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records for the same district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Season window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Day 1: temperature, rain, humidity and other channels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June–November 2001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Day 2: temperature, rain, humidity and other channels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June–November 2001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… remaining complete weather days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June–November 2001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37CAA-656F-464A-A87B-9B030432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5238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9F42D-A107-48C6-B4CE-1D560EA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2714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98D8F-D82C-4DDE-9811-AF5B94C2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66875"/>
            <a:ext cx="2371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ONE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E6A6F-0CA9-48D3-A4F0-81A621C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57425"/>
            <a:ext cx="2371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2001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Kharif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F8798-4085-41B3-9E11-BB79596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238125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72D0C-6AD4-4305-88AC-75CEEA8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104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F4A74-94A0-43C8-BB3B-ECF2AEA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SEASONAL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4E097-6795-4C68-AC1D-58E36C9E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0706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Mean temperature, humidity, wind and pressure. Total rainfall, evaporation and radiation. Count complete days and accumulate GDD.</a:t>
            </a:r>
          </a:p>
        </p:txBody>
      </p:sp>
    </p:spTree>
    <p:extLst>
      <p:ext uri="{BB962C8B-B14F-4D97-AF65-F5344CB8AC3E}">
        <p14:creationId xmlns:p14="http://schemas.microsoft.com/office/powerpoint/2010/main" val="641577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293F2-0725-40C4-97EF-75EADA8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Calculated features add crop and weather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59705-DFE4-4889-82D7-A04FEDE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1EE2D-671C-48A6-8645-797447EE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D8562-BD23-40F1-9CE2-C569AF1E1BA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53250"/>
              </a:tblGrid>
              <a:tr h="50601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Engineered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AREA_FRACTION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rice area / state rice area for the same year and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CROP_AREA_LOG1P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log(1 + CROP_AREA)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GDD_BASE10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Sum of max(daily TAVG − 10°C, 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TEMP_RANGE_MEAN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TMAX_MEAN − TMIN_MEAN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WATER_BALANCE_PROXY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 − ET0_TOTAL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RAIN_PER_GDD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 / GDD_BASE10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RADIATION_PER_GDD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RAD_TOTAL / GDD_BASE10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3FCB8-E027-4D85-91D3-660430B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Set the two GDD ratios to zero when GDD is zero. Water balance is a proxy and excludes irrigation.</a:t>
            </a:r>
          </a:p>
        </p:txBody>
      </p:sp>
    </p:spTree>
    <p:extLst>
      <p:ext uri="{BB962C8B-B14F-4D97-AF65-F5344CB8AC3E}">
        <p14:creationId xmlns:p14="http://schemas.microsoft.com/office/powerpoint/2010/main" val="7460811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7D8E9-81A5-4A5D-B4BB-02B8613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Merged dataset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09A1F-76A9-42BB-8EFF-48543A0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F6177-FEF6-4B24-B188-3E39ABB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ED934-7867-4416-8B74-1CA93D0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3,554 rice labels become 2,018 aligned observations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5A3ED-B94F-45C3-B781-3430AC7E7CEA}"/>
              </a:ext>
            </a:extLst>
          </p:cNvPr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047750"/>
                <a:gridCol w="6381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 role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Contents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predictor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 area, location, weather and derived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Categorical predictor candidates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SEASON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Prediction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YIELD in tonnes per hectare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Identity and audit fields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CROP, IDREGION, DISTRICT, FYEAR,</a:t>
                      </a:r>
                    </a:p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MATCH_STATUS, PRODUCTION_TONNES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A927-1B10-4455-88F4-CFC45647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rice_master.csv contains 30 columns. Retain matched locations, finite yield and at least 60 complete weather days. No simulated observations are added.</a:t>
            </a:r>
          </a:p>
        </p:txBody>
      </p:sp>
    </p:spTree>
    <p:extLst>
      <p:ext uri="{BB962C8B-B14F-4D97-AF65-F5344CB8AC3E}">
        <p14:creationId xmlns:p14="http://schemas.microsoft.com/office/powerpoint/2010/main" val="15188389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76314-A6F8-4D59-B85E-A8357E5C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Chronological split before fitted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3CC9-9D1B-4123-A82B-5E4CACFD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326FA-AFD0-4AD8-93D2-78F9F0E1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7E993-3B24-45E2-AA3D-6D999493EF2D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286000"/>
                <a:gridCol w="1428750"/>
                <a:gridCol w="49530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2001–2015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Fit feature transformations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2016–2017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Select the DAE checkpoint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2018–2019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Preserve a held-out partition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B089-F766-462F-9D93-73B87D6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Fit medians, scaling statistics and category mappings on training rows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B6D95-980B-4D14-9511-14C613A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Reuse those fitted transformations for validation and test. Keep identical rows and labels in both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582795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DA308-35DB-4021-B9A0-583E9CE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One prepared dataset branches into two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D4F06-4748-487E-8324-B1F9649F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32DF1-9AAE-4DBF-A007-A30AE7B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E809-B053-47DD-B3B0-C1C9603E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49E42-A8D5-4A18-AEFD-F426D25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MERGED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C5E58-0B05-406D-8A72-3D7F22DB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89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21 numerical fields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STATE and SEASON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3485-1582-4C1A-BFDD-EB4D2C0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24075"/>
            <a:ext cx="4762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03D18-8FD2-4102-9D0E-A0F6FBD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704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B4D71-774E-400C-9864-A649C7F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19250"/>
            <a:ext cx="670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TRAIN-FITTED TRANSFORMS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CA5A9-0C22-481D-B6DF-4271173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Median imputation and numerical scaling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One-hot encoding for state and season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80549-F829-4056-9BCD-4C875D2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38125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2576D-35E1-4AB2-B6B5-F34E245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238125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1BD11-FCAD-4FB3-A7CC-EFCC166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C4A4-70BE-4E2C-AF81-E5EDC15A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3862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8968C-E286-4E2B-9980-100E6FDD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29175"/>
            <a:ext cx="289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Keep 21 scaled values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Add 7 indicators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44568-67B2-4078-9F67-C65344C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BEE5D-3F23-4B79-B29C-A4A5D4D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3862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867DE-2B73-47A2-9A85-52960175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2895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Learn 8 latent values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Add 7 indicators +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94DCD-17A5-4148-B4B8-DB26E42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Both branches keep the same observations, YIELD labels and chronological partitions.</a:t>
            </a:r>
          </a:p>
        </p:txBody>
      </p:sp>
    </p:spTree>
    <p:extLst>
      <p:ext uri="{BB962C8B-B14F-4D97-AF65-F5344CB8AC3E}">
        <p14:creationId xmlns:p14="http://schemas.microsoft.com/office/powerpoint/2010/main" val="15312430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6A6C2-DF72-4C7C-AB99-4787D6C5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preprocessing preserves named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4A1BF-1BF9-47F5-BDB0-A63FFDC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78BD2-D42B-4A86-8C49-BB176FF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C2547-4ADE-4F96-BBC2-9FEAF5C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286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56550-D0AD-45C8-83A3-7F45E840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 NUMERICAL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391E4-0398-474C-8587-4FFBA61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943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Median imputation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Training mean / SD scaling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9B51-FD30-474E-83A1-2B9C095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AF4A0-113D-4872-9DC3-426458E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3286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D3C85-4366-4126-886E-8585DB2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14500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 SCALED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7C5F0-420A-4918-9071-10A9852E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2943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Original feature meanings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New comparable scales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DD8E4-3B64-4F38-8C8F-513E69D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77537-3C1D-4ED2-B52C-488190F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 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36111-B5BC-4D12-A89D-74BED70F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STATE and SEASON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7 one-hot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942C5-B3C7-4F8F-8FAC-82D9638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representation: 21 + 7 = 28 predictors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7919F-675C-48D9-8FCB-AAA3A2A83B25}"/>
              </a:ext>
            </a:extLst>
          </p:cNvPr>
          <p:cNvGraphicFramePr/>
          <p:nvPr/>
        </p:nvGraphicFramePr>
        <p:xfrm>
          <a:off xmlns:a="http://schemas.openxmlformats.org/drawingml/2006/main" x="571500" y="461962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952750"/>
                <a:gridCol w="4095750"/>
              </a:tblGrid>
              <a:tr h="357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Adilabad, Kharif 2001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scaling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scaling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67,358 hectares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0.2046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25.8498°C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−0.1383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 /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Andhra Pradesh / Kharif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Corresponding indicators =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5650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0B68D8-C6F4-429B-859A-2C197FD2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 preprocessing learns eight numerical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DA335-E917-489F-9870-54B89748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DC4A7-4A5D-4593-A35E-AF8CC87D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41FE0-8D1F-4D16-8B2B-962139D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Only the 21 standardized numerical fields enter the autoencoder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5B6A4-2827-4AF9-8CE9-14281F7D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CF4B6-0089-4BCD-A3C4-F4CDA59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32268-C2EC-48D6-A543-DBC7905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A4A3B-CC72-4CA3-8449-5F4EAE3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12542-D336-4BC4-A81D-30460D7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0F6A9-47C3-46B8-BD87-3FE1C6E1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1A4E-02BC-4FFE-8A82-E48D86B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6D99C-41ED-4C7F-9A77-52B7D73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A00CC-21EC-4F40-B382-CB31A6B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DF02-62F9-48F0-AD0A-4E160996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72781-E092-4EE9-A05F-0633314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C8488-E4D6-4493-BBD0-4675FE9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15835-B910-4E4E-9AE8-939D640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48D7B-F9C4-40E0-9582-2909970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36F5A-1505-44A8-9D56-D3D8BCD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Latent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6E856-B191-4943-929B-17913A5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F0E02-9E22-4EFB-A1A8-53162332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3D4F6-2509-4A1F-88A0-E537ED5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3DAB8-5011-4D29-8030-FCF22125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CEF6F-6EA9-4687-951C-3E64EC4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E8037-BBCD-4649-9EE8-21DEE54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FA552-F7FC-45AB-BEB4-88144F6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6549F-7990-4F1A-A274-12270E9B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03CD6-A065-43C8-BC7A-E7714B4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FC613-A0DE-44CB-B98F-8EDED53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972C55-BB7A-4F03-A690-E033BB3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7F7E5-3BF8-464B-8068-607A17A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660FBA-1FFA-42FC-BCE9-7AF6178C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Encoder: learn a compact representation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D084BA-5CF9-43C3-8096-EAD277C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Decoder: reconstruct clean inputs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CCBBC-4024-42BF-A7BA-280C9142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During training, add Gaussian noise (SD 0.05) to inputs. Keep clean values as reconstruction targets. Export latent features using clean inputs.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B994D-1985-4C3A-B66E-2C57714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 latent features + 7 category indicators + 1 reconstruction MSE = 16 predictors</a:t>
            </a:r>
          </a:p>
        </p:txBody>
      </p:sp>
    </p:spTree>
    <p:extLst>
      <p:ext uri="{BB962C8B-B14F-4D97-AF65-F5344CB8AC3E}">
        <p14:creationId xmlns:p14="http://schemas.microsoft.com/office/powerpoint/2010/main" val="20918013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8240-1733-4555-98E8-FB773C49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Category names become numerical indicators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A9410-5A81-452F-8C63-D825704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DBB21-26B3-4081-9E56-6858CF4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FE766-637B-4A9F-8F62-64303931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Example: Andhra Pradesh, Kharif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929C1-7D1C-4890-8CA6-2C838D0CB05D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11049000" cy="104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524000"/>
                <a:gridCol w="2000250"/>
                <a:gridCol w="2000250"/>
                <a:gridCol w="190500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 indicators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Karnataka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Tamil Nadu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Telangana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Encoded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F70BC-F559-4C90-B257-BEB6B962ADDD}"/>
              </a:ext>
            </a:extLst>
          </p:cNvPr>
          <p:cNvGraphicFramePr/>
          <p:nvPr/>
        </p:nvGraphicFramePr>
        <p:xfrm>
          <a:off xmlns:a="http://schemas.openxmlformats.org/drawingml/2006/main" x="571500" y="4000500"/>
          <a:ext xmlns:a="http://schemas.openxmlformats.org/drawingml/2006/main" cx="11049000" cy="104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Season indicators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Kharif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Rabi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Summer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Encoded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C8E8D-6813-46C2-AAB0-3BFCB19E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Four state columns + three training-season columns = seven indicators. Both representations use these same columns.</a:t>
            </a:r>
          </a:p>
        </p:txBody>
      </p:sp>
    </p:spTree>
    <p:extLst>
      <p:ext uri="{BB962C8B-B14F-4D97-AF65-F5344CB8AC3E}">
        <p14:creationId xmlns:p14="http://schemas.microsoft.com/office/powerpoint/2010/main" val="5944975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60DAF-7280-4EBB-9A9A-8AC5065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representation: 21 scaled numerical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A6368-D0AD-45B4-A4C4-48EB492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A6225-3BBA-46BC-90AE-C4EED39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851EF-BFB6-4949-8964-AA291AF0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numeric__CROP_AREA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D8E67-DB99-4D6F-98E4-802BEFB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0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numeric__CENTROID_X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F514-5FB4-47AA-BE0C-8DF893F0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numeric__CENTROID_Y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5C52-911D-480A-AFDD-71599C7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numeric__WEATHER_DAY_COUNT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826ED-5001-4BAE-A030-0BBD37A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numeric__TMAX_MEAN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DAC44-01A1-4730-B8D5-4CA15A0D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numeric__TMIN_MEAN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4F88B-9A60-455C-B72C-FBC29BE0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numeric__TAVG_MEAN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5B9D4-2F61-48D5-9879-791D75C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numeric__VPRES_MEAN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778F8-8661-4B88-A380-1052D68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numeric__WSPD_MEAN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5CAA7-AAD5-41FE-AC87-C86F44B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numeric__PREC_TOTAL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666CC-8DF0-45D3-A346-390219D8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numeric__ET0_TOTAL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BCC2D-3570-4607-83DB-2911728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numeric__RAD_TOTAL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44581-90F9-4A3A-8B25-E6A5D755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0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numeric__RELH_MEAN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3DD70-C691-4479-9136-BC6F3012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numeric__PS_MEAN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1E02E-2600-4574-BC40-2589E2D3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431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numeric__GDD_BASE10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1D3E4-0F2F-44AA-A000-A1E7785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146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numeric__AREA_FRACTION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87782-211C-40FD-AF5D-CD7591D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numeric__TEMP_RANGE_MEAN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E11B8-8E9E-4542-A744-A80F8757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576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numeric__WATER_BALANCE_PROXY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2B974-4C22-41E6-9516-2A11F445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numeric__RAIN_PER_GDD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031EF-900D-4A2E-A3D3-02554B61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numeric__RADIATION_PER_GDD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09FB3-C9BB-41D3-A6BD-8445CD0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numeric__CROP_AREA_LOG1P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9D7DD-4BDC-4F9B-93CF-2461964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numeric__ prefix identifies the scaled output. Each column keeps its original feature meaning.</a:t>
            </a:r>
          </a:p>
        </p:txBody>
      </p:sp>
    </p:spTree>
    <p:extLst>
      <p:ext uri="{BB962C8B-B14F-4D97-AF65-F5344CB8AC3E}">
        <p14:creationId xmlns:p14="http://schemas.microsoft.com/office/powerpoint/2010/main" val="11131594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EF2EF-4A52-4CDE-B991-B3B621A5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Both versions share seven categorical indicators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A3054-F0C8-4CB8-B493-27F174D0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77613-159A-46E2-81AE-307C7B83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D56C9-5478-4481-9283-2F00F56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categorical__STATE_Andhra Pradesh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1EC68-D314-43B2-AB0C-5C3D930C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categorical__STATE_Karnataka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7AA7B-FECE-425F-B854-FDE4D488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categorical__STATE_Tamil Nadu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448E-43CC-4850-AF31-3A51515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categorical__STATE_Telangana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2A42C-FB65-40F9-AF3E-3197479E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categorical__SEASON_Kharif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622DF-96EA-4F2D-A9AA-D7571F0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categorical__SEASON_Rabi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5E6EC-7308-4C98-B748-18856C02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categorical__SEASON_Summer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2626D-D505-4847-B6CF-BD58F2C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Values are 0 or 1. Training contains four states and three seasons. Autumn and Winter are unseen training seasons, so their season indicators become all zeros in held-out records.</a:t>
            </a:r>
          </a:p>
        </p:txBody>
      </p:sp>
    </p:spTree>
    <p:extLst>
      <p:ext uri="{BB962C8B-B14F-4D97-AF65-F5344CB8AC3E}">
        <p14:creationId xmlns:p14="http://schemas.microsoft.com/office/powerpoint/2010/main" val="7667851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2C702-3E32-46A5-8125-D558FE44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 representation: all 16 predictor columns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7E8D-A698-41D9-9EC4-AC3D905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35E99-A38B-4379-BDF8-04D396FD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3DAC-B40E-4F43-8586-20A151F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 learned numerical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AFBEC-B5F6-402E-9488-ABF0F05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00E3-C363-4BE7-AB92-7C11A24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50019-B6CF-4BBA-9E48-4FAA1649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4DB63-5806-4B41-BE1C-87C2D478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541A4-9487-4B64-86BE-E36BF56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9AB25-D0A9-4F9D-81DC-8A936D31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78BAA-775C-44DF-AE5D-0248AE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EBB1-FF1C-42D5-9C77-620B4CA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12693-51A0-4BB8-9AC4-EDC3B63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7 unchanged category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E4808-3037-498B-B50F-50F6345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categorical__STATE_Andhra Pradesh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F61AA-99E2-4BF0-98BD-6FFB890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categorical__STATE_Karnataka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D0FC2-197A-4EF8-BADF-8201D151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categorical__STATE_Tamil Nadu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50866-BA5F-4B1D-9A1A-45021BEF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categorical__STATE_Telangana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C6D01-0F78-4DB3-B353-FFB44A1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categorical__SEASON_Kharif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9D8D6-8D67-4FB2-86CE-D3AC8900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categorical__SEASON_Rabi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9B61F-00F9-4634-8C63-88B6815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categorical__SEASON_Summer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6B5BF-27B6-47AA-93B2-37FC299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AE_RECONSTRUCTION_MSE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418DE-5D46-44CA-A3D8-25191C89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original 21 numerical columns are replaced. YIELD and metadata remain separate from predictors.</a:t>
            </a:r>
          </a:p>
        </p:txBody>
      </p:sp>
    </p:spTree>
    <p:extLst>
      <p:ext uri="{BB962C8B-B14F-4D97-AF65-F5344CB8AC3E}">
        <p14:creationId xmlns:p14="http://schemas.microsoft.com/office/powerpoint/2010/main" val="7685134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EDD7A-A71D-490F-85BE-00448A0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Why we created two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3657-0598-494A-BCE5-531C149A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9C60-C61F-4B23-A58A-FE47B7C5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CB74E-1FAF-4339-9CA2-1EBF22F138B4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400050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Difference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 scaled original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8 learned combinations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Named physical measurements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 values have no fixed physical label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Total predictor 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Additional feature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Reconstruction MSE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Rows, labels and time splits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E3135-5D68-47F4-AFD3-8081153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provides the conventional reference. DAE tests whether compact learned features help. Compression can discard useful information, so fewer columns do not guarantee better prediction.</a:t>
            </a:r>
          </a:p>
        </p:txBody>
      </p:sp>
    </p:spTree>
    <p:extLst>
      <p:ext uri="{BB962C8B-B14F-4D97-AF65-F5344CB8AC3E}">
        <p14:creationId xmlns:p14="http://schemas.microsoft.com/office/powerpoint/2010/main" val="13966278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F0045-6118-45DE-B791-2A6D334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same observation has two preprocessed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EE6D1-9EA3-4853-8F53-0091425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07F96-9FD0-451C-BC2C-391A7F9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7A6F3-D731-4FAA-AB3F-80B6046F9FA1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05250"/>
                <a:gridCol w="39052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Adilabad, Kharif 2001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Standard representation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DAE representation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 scaled named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AE_LATENT_01 … AE_LATENT_08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Example numerical values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CROP_AREA: 0.2046</a:t>
                      </a:r>
                    </a:p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TAVG_MEAN: −0.1383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LATENT_01: −0.9492</a:t>
                      </a:r>
                    </a:p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LATENT_02: −1.5666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 and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7 one-hot indicators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Same 7 one-hot indicators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Additional score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AE_RECONSTRUCTION_MSE: 0.01388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Target, kept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YIELD: 2.231999 t/ha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Same YIELD: 2.231999 t/ha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FC887-FA6B-4CFE-BCBA-34DB9B0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Latent values combine input patterns. They do not individually mean rainfall or temperature.</a:t>
            </a:r>
          </a:p>
        </p:txBody>
      </p:sp>
    </p:spTree>
    <p:extLst>
      <p:ext uri="{BB962C8B-B14F-4D97-AF65-F5344CB8AC3E}">
        <p14:creationId xmlns:p14="http://schemas.microsoft.com/office/powerpoint/2010/main" val="7973198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D7723-DDDF-4705-AD29-E60223BF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Training-ready dataset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CD27B-426C-486C-A635-50C9A570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AFC7D-30A4-410E-92EE-84D06390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B8B81-D20F-41E5-A598-B4B9E3C9C51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000250"/>
                <a:gridCol w="1809750"/>
                <a:gridCol w="2190750"/>
              </a:tblGrid>
              <a:tr h="4966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files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per file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Predictors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columns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standard/train.csv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standard/validation.csv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standard/test.csv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autoencoder/train.csv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autoencoder/validation.csv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autoencoder/test.csv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4E903-9BB1-4247-A0C2-AD27E265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Each CSV also stores YIELD and five metadata fields. manifest.json lists the exact predictor columns. Select inputs explicitly and keep the partitions separate.</a:t>
            </a:r>
          </a:p>
        </p:txBody>
      </p:sp>
    </p:spTree>
    <p:extLst>
      <p:ext uri="{BB962C8B-B14F-4D97-AF65-F5344CB8AC3E}">
        <p14:creationId xmlns:p14="http://schemas.microsoft.com/office/powerpoint/2010/main" val="8570303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19573-9020-495A-AA3D-61360F7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Each representation exports three separate CSVs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EFE65-7C86-41EC-A8B5-CD1F9640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78EFB-BCFB-4B61-8480-7A633A5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BEFB4-2308-46ED-9102-72ED7199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456A-527E-441D-B07E-7D00F6DE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FCB77-A09D-41C1-9048-4F462C5E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51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28 predictor columns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YIELD + 5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79272-2587-4960-9159-91852B1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5238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0BDB3-6396-47F6-BDE4-2E23B18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714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E657C-7453-4A4F-916A-A897187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66875"/>
            <a:ext cx="680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D9657-7A86-40C2-B420-6D810DDE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57425"/>
            <a:ext cx="680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train.csv: 1,485 rows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validation.csv: 245 rows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test.csv: 288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F0C76-65D6-4867-8915-983CD2A4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C4445-D066-48B1-9E36-932FFBB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D9789-75B9-46F1-BA35-005178E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251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16 predictor columns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YIELD + 5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D37D6-0A46-4F0D-9B57-A5A554FC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5238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CF011-4BBA-4570-95A2-12DE440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714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2BA96-9290-4C66-8CCB-AF8081B7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680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CC9B9-0C43-4618-964D-693D27B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680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train.csv: 1,485 rows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validation.csv: 245 rows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test.csv: 288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4D0DD-0DA4-471D-A0F2-F4B9F7B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Six training-ready CSVs. The manifest specifies which columns become inputs and which remain context.</a:t>
            </a:r>
          </a:p>
        </p:txBody>
      </p:sp>
    </p:spTree>
    <p:extLst>
      <p:ext uri="{BB962C8B-B14F-4D97-AF65-F5344CB8AC3E}">
        <p14:creationId xmlns:p14="http://schemas.microsoft.com/office/powerpoint/2010/main" val="1179337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2026-10-09T03:00:52.0720000Z</dcterms:created>
  <dcterms:modified xsi:type="dcterms:W3CDTF">2026-10-09T03:00:52.0720000Z</dcterms:modified>
</coreProperties>
</file>
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27e5611d9e4f62" /><Relationship Type="http://schemas.openxmlformats.org/officeDocument/2006/relationships/extended-properties" Target="/docProps/app.xml" Id="Rc7a75e3927bd4db0" /><Relationship Type="http://schemas.openxmlformats.org/officeDocument/2006/relationships/officeDocument" Target="/ppt/presentation.xml" Id="R30233dfd4acb46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eddc348e3e4691"/>
  </p:sldMasterIdLst>
  <p:notesMasterIdLst>
    <p:notesMasterId xmlns:r="http://schemas.openxmlformats.org/officeDocument/2006/relationships" r:id="R14f8b06192524d01"/>
  </p:notesMasterIdLst>
  <p:sldIdLst>
    <p:sldId xmlns:r="http://schemas.openxmlformats.org/officeDocument/2006/relationships" id="256" r:id="R9a1892dd37f944e1"/>
    <p:sldId xmlns:r="http://schemas.openxmlformats.org/officeDocument/2006/relationships" id="257" r:id="R9df6ecd4a8b44ca6"/>
    <p:sldId xmlns:r="http://schemas.openxmlformats.org/officeDocument/2006/relationships" id="258" r:id="R35b667e139cc4a44"/>
    <p:sldId xmlns:r="http://schemas.openxmlformats.org/officeDocument/2006/relationships" id="259" r:id="R52399f9e91404671"/>
    <p:sldId xmlns:r="http://schemas.openxmlformats.org/officeDocument/2006/relationships" id="260" r:id="Rc2661dbeaf37439a"/>
    <p:sldId xmlns:r="http://schemas.openxmlformats.org/officeDocument/2006/relationships" id="261" r:id="R6576c12bc8c6438f"/>
    <p:sldId xmlns:r="http://schemas.openxmlformats.org/officeDocument/2006/relationships" id="262" r:id="R45b180c38ef54262"/>
    <p:sldId xmlns:r="http://schemas.openxmlformats.org/officeDocument/2006/relationships" id="263" r:id="R9b9db56034d14412"/>
    <p:sldId xmlns:r="http://schemas.openxmlformats.org/officeDocument/2006/relationships" id="264" r:id="R605b75612a134987"/>
    <p:sldId xmlns:r="http://schemas.openxmlformats.org/officeDocument/2006/relationships" id="265" r:id="R11a34def51c841f9"/>
    <p:sldId xmlns:r="http://schemas.openxmlformats.org/officeDocument/2006/relationships" id="266" r:id="Rb27d1a2d115f4998"/>
    <p:sldId xmlns:r="http://schemas.openxmlformats.org/officeDocument/2006/relationships" id="267" r:id="R1d55f5c184fe41a4"/>
    <p:sldId xmlns:r="http://schemas.openxmlformats.org/officeDocument/2006/relationships" id="268" r:id="R86c18522429b4af4"/>
    <p:sldId xmlns:r="http://schemas.openxmlformats.org/officeDocument/2006/relationships" id="269" r:id="Rb1a7ea25392046f7"/>
    <p:sldId xmlns:r="http://schemas.openxmlformats.org/officeDocument/2006/relationships" id="270" r:id="R225eafd0174c4f7b"/>
    <p:sldId xmlns:r="http://schemas.openxmlformats.org/officeDocument/2006/relationships" id="271" r:id="R08f8363437f74ba6"/>
    <p:sldId xmlns:r="http://schemas.openxmlformats.org/officeDocument/2006/relationships" id="272" r:id="R6ce6f1e7801f4c41"/>
    <p:sldId xmlns:r="http://schemas.openxmlformats.org/officeDocument/2006/relationships" id="273" r:id="R9b863d5209e64f06"/>
    <p:sldId xmlns:r="http://schemas.openxmlformats.org/officeDocument/2006/relationships" id="274" r:id="Rbbc2abe53a864326"/>
    <p:sldId xmlns:r="http://schemas.openxmlformats.org/officeDocument/2006/relationships" id="275" r:id="R656b27ab030547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da79d6aca408c" /><Relationship Type="http://schemas.openxmlformats.org/officeDocument/2006/relationships/slideMaster" Target="/ppt/slideMasters/slideMaster1.xml" Id="R9aeddc348e3e4691" /><Relationship Type="http://schemas.openxmlformats.org/officeDocument/2006/relationships/notesMaster" Target="/ppt/notesMasters/notesMaster1.xml" Id="R14f8b06192524d01" /><Relationship Type="http://schemas.openxmlformats.org/officeDocument/2006/relationships/presProps" Target="/ppt/presProps.xml" Id="R34c378c49188471b" /><Relationship Type="http://schemas.openxmlformats.org/officeDocument/2006/relationships/tableStyles" Target="/ppt/tableStyles.xml" Id="Rc388ba72b0984578" /><Relationship Type="http://schemas.openxmlformats.org/officeDocument/2006/relationships/slide" Target="/ppt/slides/slide1.xml" Id="R9a1892dd37f944e1" /><Relationship Type="http://schemas.openxmlformats.org/officeDocument/2006/relationships/slide" Target="/ppt/slides/slide2.xml" Id="R9df6ecd4a8b44ca6" /><Relationship Type="http://schemas.openxmlformats.org/officeDocument/2006/relationships/slide" Target="/ppt/slides/slide3.xml" Id="R35b667e139cc4a44" /><Relationship Type="http://schemas.openxmlformats.org/officeDocument/2006/relationships/slide" Target="/ppt/slides/slide4.xml" Id="R52399f9e91404671" /><Relationship Type="http://schemas.openxmlformats.org/officeDocument/2006/relationships/slide" Target="/ppt/slides/slide5.xml" Id="Rc2661dbeaf37439a" /><Relationship Type="http://schemas.openxmlformats.org/officeDocument/2006/relationships/slide" Target="/ppt/slides/slide6.xml" Id="R6576c12bc8c6438f" /><Relationship Type="http://schemas.openxmlformats.org/officeDocument/2006/relationships/slide" Target="/ppt/slides/slide7.xml" Id="R45b180c38ef54262" /><Relationship Type="http://schemas.openxmlformats.org/officeDocument/2006/relationships/slide" Target="/ppt/slides/slide8.xml" Id="R9b9db56034d14412" /><Relationship Type="http://schemas.openxmlformats.org/officeDocument/2006/relationships/slide" Target="/ppt/slides/slide9.xml" Id="R605b75612a134987" /><Relationship Type="http://schemas.openxmlformats.org/officeDocument/2006/relationships/slide" Target="/ppt/slides/slide10.xml" Id="R11a34def51c841f9" /><Relationship Type="http://schemas.openxmlformats.org/officeDocument/2006/relationships/slide" Target="/ppt/slides/slide11.xml" Id="Rb27d1a2d115f4998" /><Relationship Type="http://schemas.openxmlformats.org/officeDocument/2006/relationships/slide" Target="/ppt/slides/slide12.xml" Id="R1d55f5c184fe41a4" /><Relationship Type="http://schemas.openxmlformats.org/officeDocument/2006/relationships/slide" Target="/ppt/slides/slide13.xml" Id="R86c18522429b4af4" /><Relationship Type="http://schemas.openxmlformats.org/officeDocument/2006/relationships/slide" Target="/ppt/slides/slide14.xml" Id="Rb1a7ea25392046f7" /><Relationship Type="http://schemas.openxmlformats.org/officeDocument/2006/relationships/slide" Target="/ppt/slides/slide15.xml" Id="R225eafd0174c4f7b" /><Relationship Type="http://schemas.openxmlformats.org/officeDocument/2006/relationships/slide" Target="/ppt/slides/slide16.xml" Id="R08f8363437f74ba6" /><Relationship Type="http://schemas.openxmlformats.org/officeDocument/2006/relationships/slide" Target="/ppt/slides/slide17.xml" Id="R6ce6f1e7801f4c41" /><Relationship Type="http://schemas.openxmlformats.org/officeDocument/2006/relationships/slide" Target="/ppt/slides/slide18.xml" Id="R9b863d5209e64f06" /><Relationship Type="http://schemas.openxmlformats.org/officeDocument/2006/relationships/slide" Target="/ppt/slides/slide19.xml" Id="Rbbc2abe53a864326" /><Relationship Type="http://schemas.openxmlformats.org/officeDocument/2006/relationships/slide" Target="/ppt/slides/slide20.xml" Id="R656b27ab0305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00d52256be4c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a5ec513d404753" /><Relationship Type="http://schemas.openxmlformats.org/officeDocument/2006/relationships/notesMaster" Target="/ppt/notesMasters/notesMaster1.xml" Id="R489c3f2a0e1c4e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740907811a404d" /><Relationship Type="http://schemas.openxmlformats.org/officeDocument/2006/relationships/notesMaster" Target="/ppt/notesMasters/notesMaster1.xml" Id="Racd5982b14dc4e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5a985439a6461e" /><Relationship Type="http://schemas.openxmlformats.org/officeDocument/2006/relationships/notesMaster" Target="/ppt/notesMasters/notesMaster1.xml" Id="R030aa8b95a9f4a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d8928d412e4785" /><Relationship Type="http://schemas.openxmlformats.org/officeDocument/2006/relationships/notesMaster" Target="/ppt/notesMasters/notesMaster1.xml" Id="R800f0ba8a7fb40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5275ad8aa7433c" /><Relationship Type="http://schemas.openxmlformats.org/officeDocument/2006/relationships/notesMaster" Target="/ppt/notesMasters/notesMaster1.xml" Id="R2736c251a6b941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81d6b0855e4527" /><Relationship Type="http://schemas.openxmlformats.org/officeDocument/2006/relationships/notesMaster" Target="/ppt/notesMasters/notesMaster1.xml" Id="Rde307e85a47a48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11ded512c8408e" /><Relationship Type="http://schemas.openxmlformats.org/officeDocument/2006/relationships/notesMaster" Target="/ppt/notesMasters/notesMaster1.xml" Id="Rb67c91eab11147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110ee495054966" /><Relationship Type="http://schemas.openxmlformats.org/officeDocument/2006/relationships/notesMaster" Target="/ppt/notesMasters/notesMaster1.xml" Id="Rdb34d69314f34e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64160e0d124dd0" /><Relationship Type="http://schemas.openxmlformats.org/officeDocument/2006/relationships/notesMaster" Target="/ppt/notesMasters/notesMaster1.xml" Id="Rb4a484c6066645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7fc9e28ca74da9" /><Relationship Type="http://schemas.openxmlformats.org/officeDocument/2006/relationships/notesMaster" Target="/ppt/notesMasters/notesMaster1.xml" Id="R70335cb565a447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91f8e85e86489d" /><Relationship Type="http://schemas.openxmlformats.org/officeDocument/2006/relationships/notesMaster" Target="/ppt/notesMasters/notesMaster1.xml" Id="Re500f482bf7e41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a45f73e71f4d4d" /><Relationship Type="http://schemas.openxmlformats.org/officeDocument/2006/relationships/notesMaster" Target="/ppt/notesMasters/notesMaster1.xml" Id="Rec228b9d5ab04d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42c84ef3a14e67" /><Relationship Type="http://schemas.openxmlformats.org/officeDocument/2006/relationships/notesMaster" Target="/ppt/notesMasters/notesMaster1.xml" Id="R345b1db2497047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e21a118b70405e" /><Relationship Type="http://schemas.openxmlformats.org/officeDocument/2006/relationships/notesMaster" Target="/ppt/notesMasters/notesMaster1.xml" Id="Rd0d7b866e67f4f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9f87d0462f43ae" /><Relationship Type="http://schemas.openxmlformats.org/officeDocument/2006/relationships/notesMaster" Target="/ppt/notesMasters/notesMaster1.xml" Id="R418ef824ac7645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bfb66040cd4e52" /><Relationship Type="http://schemas.openxmlformats.org/officeDocument/2006/relationships/notesMaster" Target="/ppt/notesMasters/notesMaster1.xml" Id="Rb0a3b05d9fe648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fc3f2b7f594093" /><Relationship Type="http://schemas.openxmlformats.org/officeDocument/2006/relationships/notesMaster" Target="/ppt/notesMasters/notesMaster1.xml" Id="R2a6360e52f664c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6231121dab45b8" /><Relationship Type="http://schemas.openxmlformats.org/officeDocument/2006/relationships/notesMaster" Target="/ppt/notesMasters/notesMaster1.xml" Id="R3d25cc02711a4d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ee73e514e641cf" /><Relationship Type="http://schemas.openxmlformats.org/officeDocument/2006/relationships/notesMaster" Target="/ppt/notesMasters/notesMaster1.xml" Id="Ra0f8f34f80764fd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bc96a7b45648b3" /><Relationship Type="http://schemas.openxmlformats.org/officeDocument/2006/relationships/notesMaster" Target="/ppt/notesMasters/notesMaster1.xml" Id="Rf090d0485e9447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>Original source links: https://data.gov.in/resource/district-wise-season-wise-crop-production-statistics-1997 ; https://gadm.org/data.html ; https://gadm.org/license.html ; https://power.larc.nasa.gov/docs/services/api/temporal/daily/ . The saved weather extract includes derived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docs/Preprocessing_Proposal.pdf; pre-processing/build_dataset.py; pre-processing/internal/merge_seasonal.py; DATASET/training/manifest.json; DATASET/training/standard/train.csv; DATASET/training/autoencoder/train.csv.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e411bcb5a4b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b127122014b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468cfb41b41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f09d4e6894d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355ee86bb43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0f9ef3d8743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922EA4-442E-4716-B77A-F61BB3E715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6F5B74-C021-45F7-83E6-090DA2E291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90FD6F-1B7A-45CD-9853-5623E0A1A4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A43113-967D-4EB6-8E51-DCB4E224D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05E56D-C674-475D-8894-707BF8F6A7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3A9916-FB74-4952-BB2A-ADFE5AEDA0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7F2CED-9637-4136-BFBF-47FAE8D43E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8D648A-1C54-4383-ACA8-B84209CE96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C96EFC-F291-4E9B-8C4F-B0A01FD3B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8B5998-4D0E-4A9E-A355-A795C8668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f0b6e530ae439a" /><Relationship Type="http://schemas.openxmlformats.org/officeDocument/2006/relationships/slideLayout" Target="/ppt/slideLayouts/slideLayout1.xml" Id="Rc7d4f860575b4dd3" /><Relationship Type="http://schemas.openxmlformats.org/officeDocument/2006/relationships/slideLayout" Target="/ppt/slideLayouts/slideLayout2.xml" Id="R0f34f0b82c4e4f07" /><Relationship Type="http://schemas.openxmlformats.org/officeDocument/2006/relationships/slideLayout" Target="/ppt/slideLayouts/slideLayout3.xml" Id="R8d346481370b4d80" /><Relationship Type="http://schemas.openxmlformats.org/officeDocument/2006/relationships/slideLayout" Target="/ppt/slideLayouts/slideLayout4.xml" Id="R00e932cc8f2c49f6" /><Relationship Type="http://schemas.openxmlformats.org/officeDocument/2006/relationships/slideLayout" Target="/ppt/slideLayouts/slideLayout5.xml" Id="R64e21d47132345bb" /><Relationship Type="http://schemas.openxmlformats.org/officeDocument/2006/relationships/slideLayout" Target="/ppt/slideLayouts/slideLayout6.xml" Id="R7483000e1294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d4f860575b4dd3"/>
    <p:sldLayoutId xmlns:r="http://schemas.openxmlformats.org/officeDocument/2006/relationships" id="2147483650" r:id="R0f34f0b82c4e4f07"/>
    <p:sldLayoutId xmlns:r="http://schemas.openxmlformats.org/officeDocument/2006/relationships" id="2147483651" r:id="R8d346481370b4d80"/>
    <p:sldLayoutId xmlns:r="http://schemas.openxmlformats.org/officeDocument/2006/relationships" id="2147483652" r:id="R00e932cc8f2c49f6"/>
    <p:sldLayoutId xmlns:r="http://schemas.openxmlformats.org/officeDocument/2006/relationships" id="2147483653" r:id="R64e21d47132345bb"/>
    <p:sldLayoutId xmlns:r="http://schemas.openxmlformats.org/officeDocument/2006/relationships" id="2147483654" r:id="R7483000e1294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9afe71fa4439e" /><Relationship Type="http://schemas.openxmlformats.org/officeDocument/2006/relationships/notesSlide" Target="/ppt/notesSlides/notesSlide1.xml" Id="Red63d7cabdd345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12c9ab25e64ec5" /><Relationship Type="http://schemas.openxmlformats.org/officeDocument/2006/relationships/notesSlide" Target="/ppt/notesSlides/notesSlide2.xml" Id="R3017c8db49fb4e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f29574a0640af" /><Relationship Type="http://schemas.openxmlformats.org/officeDocument/2006/relationships/notesSlide" Target="/ppt/notesSlides/notesSlide3.xml" Id="R1611f395751e48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7d4750d324501" /><Relationship Type="http://schemas.openxmlformats.org/officeDocument/2006/relationships/notesSlide" Target="/ppt/notesSlides/notesSlide4.xml" Id="R64eb94501eb246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99f01b2014b73" /><Relationship Type="http://schemas.openxmlformats.org/officeDocument/2006/relationships/notesSlide" Target="/ppt/notesSlides/notesSlide5.xml" Id="R9d2ac931357a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9a73901e44bf1" /><Relationship Type="http://schemas.openxmlformats.org/officeDocument/2006/relationships/notesSlide" Target="/ppt/notesSlides/notesSlide6.xml" Id="R7f6d2296825447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570562afc44af" /><Relationship Type="http://schemas.openxmlformats.org/officeDocument/2006/relationships/notesSlide" Target="/ppt/notesSlides/notesSlide7.xml" Id="R91b3ce96955045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8337af4e44fde" /><Relationship Type="http://schemas.openxmlformats.org/officeDocument/2006/relationships/notesSlide" Target="/ppt/notesSlides/notesSlide8.xml" Id="Rfe1ed6d6364949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8f11ffc8634e74" /><Relationship Type="http://schemas.openxmlformats.org/officeDocument/2006/relationships/notesSlide" Target="/ppt/notesSlides/notesSlide9.xml" Id="R5b20a78dd0dd40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9f7bdf8c4457e" /><Relationship Type="http://schemas.openxmlformats.org/officeDocument/2006/relationships/notesSlide" Target="/ppt/notesSlides/notesSlide10.xml" Id="R1734b40dd9e74f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2fe72549c46a7" /><Relationship Type="http://schemas.openxmlformats.org/officeDocument/2006/relationships/notesSlide" Target="/ppt/notesSlides/notesSlide11.xml" Id="R1d5da48acaea4d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9fb11d026e4d18" /><Relationship Type="http://schemas.openxmlformats.org/officeDocument/2006/relationships/notesSlide" Target="/ppt/notesSlides/notesSlide12.xml" Id="Ra8ef23e22fab41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74da3d8a84e52" /><Relationship Type="http://schemas.openxmlformats.org/officeDocument/2006/relationships/notesSlide" Target="/ppt/notesSlides/notesSlide13.xml" Id="Rcbc125bafed14c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993a0cfef42ab" /><Relationship Type="http://schemas.openxmlformats.org/officeDocument/2006/relationships/notesSlide" Target="/ppt/notesSlides/notesSlide14.xml" Id="R136fdd30c6ee4b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746201cf94849" /><Relationship Type="http://schemas.openxmlformats.org/officeDocument/2006/relationships/notesSlide" Target="/ppt/notesSlides/notesSlide15.xml" Id="R29d2fa4398774a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1146017f94473" /><Relationship Type="http://schemas.openxmlformats.org/officeDocument/2006/relationships/notesSlide" Target="/ppt/notesSlides/notesSlide16.xml" Id="R542b376c9b0343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d30e9767549a6" /><Relationship Type="http://schemas.openxmlformats.org/officeDocument/2006/relationships/notesSlide" Target="/ppt/notesSlides/notesSlide17.xml" Id="R857a4565960e4a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c7dd9e4f84819" /><Relationship Type="http://schemas.openxmlformats.org/officeDocument/2006/relationships/notesSlide" Target="/ppt/notesSlides/notesSlide18.xml" Id="R7230173f999f48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0d5fb2ea34c15" /><Relationship Type="http://schemas.openxmlformats.org/officeDocument/2006/relationships/notesSlide" Target="/ppt/notesSlides/notesSlide19.xml" Id="R08e2d42a3ad647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699e78dee43de" /><Relationship Type="http://schemas.openxmlformats.org/officeDocument/2006/relationships/notesSlide" Target="/ppt/notesSlides/notesSlide20.xml" Id="Rf3de3b53ad8b41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2DCDD-47B3-40CA-860D-906A8AE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83089-6E00-40C4-8E51-EEB651C4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C290E-7430-4C02-851D-E5558924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E0B4F-9ADE-4745-93BD-4CB72637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Raw sources to training-ready CSVs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82C7B-B3DC-426D-A2AD-BAF746B1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South Indian rice observations</a:t>
            </a:r>
          </a:p>
          <a:p xmlns:a="http://schemas.openxmlformats.org/drawingml/2006/main">
            <a:pPr>
              <a:defRPr sz="24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District, crop year and season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BC367-E905-4417-A425-C19C8E5E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Government crop statistics + GADM locations + NASA weather</a:t>
            </a:r>
          </a:p>
        </p:txBody>
      </p:sp>
    </p:spTree>
    <p:extLst>
      <p:ext uri="{BB962C8B-B14F-4D97-AF65-F5344CB8AC3E}">
        <p14:creationId xmlns:p14="http://schemas.microsoft.com/office/powerpoint/2010/main" val="1210864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F418D-7777-4F5A-AD96-1025C7EB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Dataset preparation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3E48D-BF54-40AA-86F6-15D19FE4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67AE0-A3C4-4EE9-98D5-FFA944D0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AC7FC-482E-4183-96AE-458E7E0C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A4D17-9E26-4DC8-9A9D-F1627A61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RAW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90CCF-40A7-47F3-901D-32FD99E1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Crop statistics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 boundaries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Daily weather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0FA8D-9585-4CE9-B446-8860DE7A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28875"/>
            <a:ext cx="2381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4DE3A-AD88-462A-93B6-3E592E3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429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A5B22-FE6E-47FD-B5F2-AF57B08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0975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C1139-4C3A-4E5C-9199-11D3813B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0030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Rice records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Matching fields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Weather channels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0DDA2-BACD-4635-8DB9-B6A1E65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28875"/>
            <a:ext cx="2381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B3BD9-4245-4CEC-8EF2-F9B91CFC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429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4818B-177B-4C50-829D-F38068D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16783-9A57-4C21-91C1-1486F841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 identity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Year and season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Seasonal summaries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27BBC-4B1B-4826-AECD-78D7B783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F189E-F546-4E36-9037-51EAA7EE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61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A3E80-F998-4FDE-9D39-0DFC16C0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Scale and encode; optionally learn DAE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EB497-94AE-4171-A627-9D74C8C2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86300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2EED3-10B7-46B3-AE5B-1A49C1C0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B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D6E52-28DA-40A4-9D51-34A4595A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470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89A3C-CFAB-44D6-AE64-60A068A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470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and DAE train / validation / test CSVs</a:t>
            </a:r>
          </a:p>
        </p:txBody>
      </p:sp>
    </p:spTree>
    <p:extLst>
      <p:ext uri="{BB962C8B-B14F-4D97-AF65-F5344CB8AC3E}">
        <p14:creationId xmlns:p14="http://schemas.microsoft.com/office/powerpoint/2010/main" val="1064220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43263-8AF9-418C-BD7E-8CB363B3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Downloaded and assembled raw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8E03A-6F7E-4283-8F77-6F3CCB45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B8FFE-015D-43C7-9FA9-F50E00B9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34173-4FFD-46AF-8780-5F1AB3C98FF2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572000"/>
                <a:gridCol w="3714750"/>
              </a:tblGrid>
              <a:tr h="8334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files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 level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Government crop statistics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crop_statistics.csv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District, crop, year,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GADM 4.1 district boundaries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india_districts.csv</a:t>
                      </a:r>
                    </a:p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boundary_coordinates.csv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District properties</a:t>
                      </a:r>
                    </a:p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Ordered boundary vertices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NASA POWER daily extract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daily_weather.csv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District and 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BDB5E-8356-40DF-8BE2-4C6F9545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GADM originally arrived as zipped GeoJSON. The active folder now contains CSVs preserving all 676 districts and 275,432 vertices.</a:t>
            </a:r>
          </a:p>
        </p:txBody>
      </p:sp>
    </p:spTree>
    <p:extLst>
      <p:ext uri="{BB962C8B-B14F-4D97-AF65-F5344CB8AC3E}">
        <p14:creationId xmlns:p14="http://schemas.microsoft.com/office/powerpoint/2010/main" val="1269463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61006-5161-4A32-B424-6FED9D96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Crop-statistics feature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4BFD1-2F98-45E4-B3ED-A28BD5C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1E225-7DE7-495F-90C5-2D00022A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929A3-1D27-4108-9DA6-A1C0E0EFEECE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191000"/>
              </a:tblGrid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Raw fields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or calculated fields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State, District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STATE, DISTRICT, IDREGION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Regional context and district matching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 = Rice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Filter rice / paddy records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Crop_Year,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FYEAR,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Weather alignment and time splits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CROP_AREA, AREA_FRACTION,</a:t>
                      </a:r>
                    </a:p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CROP_AREA_LOG1P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Cultivation area and relative scale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Production + Area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PRODUCTION_TONNES, YIELD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Calculate yield = production / area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EF7F3-4783-4AB8-8051-C70BBEE2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Keep valid records from four states. Recompute yield rather than copying raw Yield. Production stays outside predictor inputs to prevent leakage.</a:t>
            </a:r>
          </a:p>
        </p:txBody>
      </p:sp>
    </p:spTree>
    <p:extLst>
      <p:ext uri="{BB962C8B-B14F-4D97-AF65-F5344CB8AC3E}">
        <p14:creationId xmlns:p14="http://schemas.microsoft.com/office/powerpoint/2010/main" val="507339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70331-4FEE-44B8-A2B1-DAE37781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 features and matching fields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190CD-264B-4A08-A29C-C148CD46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C9F70-B4E5-482F-B6C5-5BE8DB7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FD061-9863-412C-A2F8-7A829E8C8DB6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1437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Boundary information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 in the dataset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NAME_1 and NAME_2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Match state and district names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Longitude / latitude vertices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vertices to obtain CENTROID_X and CENTROID_Y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GID_2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Link district properties to boundary_coordinates.csv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Other GADM codes, names and types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Retain in the district source CSV for traceability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61015-3662-4BFC-909A-6BF5239C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The merge uses representative longitude and latitude. These averages reproduce the original pipeline and are not area-weighted geographic centroids.</a:t>
            </a:r>
          </a:p>
        </p:txBody>
      </p:sp>
    </p:spTree>
    <p:extLst>
      <p:ext uri="{BB962C8B-B14F-4D97-AF65-F5344CB8AC3E}">
        <p14:creationId xmlns:p14="http://schemas.microsoft.com/office/powerpoint/2010/main" val="417289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217A3-2F6C-46E2-B26D-13C3D99B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Daily weather features become seasonal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D290F-63A4-4DF2-82AD-F2E7036A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F4795-D791-4B56-BE3C-A2E6E9A7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B0609-FB9B-483B-9123-9D763E6A8F63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333750"/>
                <a:gridCol w="6000750"/>
              </a:tblGrid>
              <a:tr h="50601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Daily field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 feature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TMAX_MEAN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daily maximum temperature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TMIN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TMIN_MEAN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daily minimum temperature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TAVG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TAVG_MEAN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daily mean temperature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VPRES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VPRES_MEAN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vapour pressure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WSPD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WSPD_MEAN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wind speed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RELH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RELH_MEAN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relative humidity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PS_MEAN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Average surface pressure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01F7F-CAE0-415E-A336-5868B6B9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IDREGION identifies the district. DATE determines which season receives each daily record.</a:t>
            </a:r>
          </a:p>
        </p:txBody>
      </p:sp>
    </p:spTree>
    <p:extLst>
      <p:ext uri="{BB962C8B-B14F-4D97-AF65-F5344CB8AC3E}">
        <p14:creationId xmlns:p14="http://schemas.microsoft.com/office/powerpoint/2010/main" val="204795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1310C-0B43-49D2-91F3-9A591E02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Weather totals and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ED56F-F4DB-412E-B895-ED41EFDC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36BC4-4F66-466A-A24F-80E102B5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6764F-431F-49CA-A27A-FBE7D3B3921F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333750"/>
                <a:gridCol w="50482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Daily information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 feature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PREC_TOTAL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Seasonal rainfall total in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ET0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ET0_TOTAL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Seasonal NASA EVLAND land evaporation in mm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RAD_TOTAL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Seasonal solar radiation in kWh/m²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Complete daily records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WEATHER_DAY_COUNT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Number of days used in the summary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38492-D750-4E7C-BCD7-FFE15707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Use a day only when all ten weather channels are finite. Require at least 60 complete days per crop observation. IDCOVER is excluded from the final predictors.</a:t>
            </a:r>
          </a:p>
        </p:txBody>
      </p:sp>
    </p:spTree>
    <p:extLst>
      <p:ext uri="{BB962C8B-B14F-4D97-AF65-F5344CB8AC3E}">
        <p14:creationId xmlns:p14="http://schemas.microsoft.com/office/powerpoint/2010/main" val="1878068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8C8A4-1DE6-411F-9861-78C98D6A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District matching across the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8516A-07EC-48BD-ACD3-621A30A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0C2EF-52E7-480B-8CB3-4BCB05B4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C6479-2CCE-4AEE-9E4D-130DB999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85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D5886-55A7-4DA7-9EFD-D57C86EF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514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GOVERNMENT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6CEA0-2995-4F8A-9D66-DA07CB64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4514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Andhra Pradesh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ADILABAD, 2001, Kharif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5E989-A6D3-4068-8B4A-7E13ABDD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485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F7B1C-F84F-48DA-B73E-63452ADA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62125"/>
            <a:ext cx="4514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GADM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4CFF5-1B21-49ED-A6B1-8D32952D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52675"/>
            <a:ext cx="4514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Telangana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Adilabad district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96C5D-69AB-4EEA-8C6B-0610A759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Normalize case, spaces and punctuation. Try matching state + district first.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3B48F-5712-4079-9CC8-4A8DC861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If the state match fails, use a district name unique across the four selected states. Record MATCH_STATUS = historical_state_crosswalk.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E5D8B-A152-4433-A426-A199F20C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Common project ID: IND_ANDHRAPRADESH_ADILABAD</a:t>
            </a:r>
          </a:p>
        </p:txBody>
      </p:sp>
    </p:spTree>
    <p:extLst>
      <p:ext uri="{BB962C8B-B14F-4D97-AF65-F5344CB8AC3E}">
        <p14:creationId xmlns:p14="http://schemas.microsoft.com/office/powerpoint/2010/main" val="1634676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1906E-8D88-466E-AFA2-B2428296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Year and season link crop records to weather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D2EFB-9B3C-4040-A1E8-ADB6DEE3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21BD6-9190-4B91-B6C2-6173E359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4671F-D67E-48A5-ADFE-5D2D2525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Final join key: (IDREGION, FYEAR, SEASON)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8AF43-9B4E-4348-9B38-B3A9EC7C48F8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334250"/>
              </a:tblGrid>
              <a:tr h="5000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Season for crop year Y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Weather window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Kharif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June–November of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Rabi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November–December of Y−1 and January–April of 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Summer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March–June of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Autumn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September–December of Y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Winter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December of Y−1 and January–March of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A5F06-5DA8-4B3B-9456-0AD5C2FC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Adilabad / 2001 / Kharif receives June–November 2001 weather. Summarize many daily rows into one seasonal row. These windows are fixed project assumptions.</a:t>
            </a:r>
          </a:p>
        </p:txBody>
      </p:sp>
    </p:spTree>
    <p:extLst>
      <p:ext uri="{BB962C8B-B14F-4D97-AF65-F5344CB8AC3E}">
        <p14:creationId xmlns:p14="http://schemas.microsoft.com/office/powerpoint/2010/main" val="13431546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9B6F3-AF96-46B6-AFE1-0EA9D975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Calculated features add crop and weather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E7573-A101-4D2F-9216-8C50EE16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50A77-2615-414D-9366-32FB079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B0774-B9D3-4271-B74B-928648152A16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953250"/>
              </a:tblGrid>
              <a:tr h="50601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Engineered feature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AREA_FRACTION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District rice area / state rice area for the same year and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CROP_AREA_LOG1P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log(1 + CROP_AREA)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GDD_BASE10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Sum of max(daily TAVG − 10°C, 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TEMP_RANGE_MEAN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TMAX_MEAN − TMIN_MEAN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WATER_BALANCE_PROXY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PREC_TOTAL − ET0_TOTAL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RAIN_PER_GDD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PREC_TOTAL / GDD_BASE10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RADIATION_PER_GDD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RAD_TOTAL / GDD_BASE10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499E1-561D-4CC2-90D1-4434C326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Set the two GDD ratios to zero when GDD is zero. Water balance is a proxy and excludes irrigation.</a:t>
            </a:r>
          </a:p>
        </p:txBody>
      </p:sp>
    </p:spTree>
    <p:extLst>
      <p:ext uri="{BB962C8B-B14F-4D97-AF65-F5344CB8AC3E}">
        <p14:creationId xmlns:p14="http://schemas.microsoft.com/office/powerpoint/2010/main" val="8974031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80132-6477-4510-A126-577A103A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Merged dataset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FD92B-C30B-4CE0-BA3E-8DEE7A5A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35C89-62BB-4163-8520-46411057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2E764-CBC9-405A-B147-D7125026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3,554 rice labels become 2,018 aligned observations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6139B-1BE2-40CF-BB75-025DDB10F073}"/>
              </a:ext>
            </a:extLst>
          </p:cNvPr>
          <p:cNvGraphicFramePr/>
          <p:nvPr/>
        </p:nvGraphicFramePr>
        <p:xfrm>
          <a:off xmlns:a="http://schemas.openxmlformats.org/drawingml/2006/main" x="571500" y="2333625"/>
          <a:ext xmlns:a="http://schemas.openxmlformats.org/drawingml/2006/main" cx="110490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047750"/>
                <a:gridCol w="6381750"/>
              </a:tblGrid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Column role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Contents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Numerical predictor candidates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 area, location, weather and derived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Categorical predictor candidates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STATE, SEASON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Prediction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YIELD in tonnes per hectare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Identity and audit fields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CROP, IDREGION, DISTRICT, FYEAR,</a:t>
                      </a:r>
                    </a:p>
                    <a:p>
                      <a:r>
                        <a:rPr sz="17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MATCH_STATUS, PRODUCTION_TONNES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66092-5DBB-4972-8B12-623CC5D0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rice_master.csv contains 30 columns. Retain matched locations, finite yield and at least 60 complete weather days. No simulated observations are added.</a:t>
            </a:r>
          </a:p>
        </p:txBody>
      </p:sp>
    </p:spTree>
    <p:extLst>
      <p:ext uri="{BB962C8B-B14F-4D97-AF65-F5344CB8AC3E}">
        <p14:creationId xmlns:p14="http://schemas.microsoft.com/office/powerpoint/2010/main" val="11114253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9C244-53BC-4655-B1D4-E7505F56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Chronological split before fitted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720BE-0D5F-4223-B54C-F1C53FFA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33150-02CF-45BF-927B-1418D370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7A52D-C1B3-4F5C-B54A-063F203BD9DD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286000"/>
                <a:gridCol w="1428750"/>
                <a:gridCol w="4953000"/>
              </a:tblGrid>
              <a:tr h="70246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2001–2015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1,485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Fit feature transformations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2016–2017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245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Select the DAE checkpoint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2018–2019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Preserve a held-out partition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03A20-E661-497B-8A62-B7AA592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Fit medians, scaling statistics and category mappings on training rows 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F7E3B-7F7B-441D-878A-0535DFE6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Reuse those fitted transformations for validation and test. Keep identical rows and labels in both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14636536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9B077-2ACE-40B7-BE37-64742B58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preprocessing preserves named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0DA27-EF09-462C-A458-34622102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BF8A4-1F99-43CF-9F04-369F4977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03097-54F0-4E8B-838E-CAC63BC1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2861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F1DF2-C8F8-4476-8756-132A8174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943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21 NUMERICAL FIELDS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81F4A-1551-4746-9719-CD293F8B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9432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Median imputation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Training mean / SD scaling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BCD17-89AA-4A04-BCDA-91156C10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F0248-A013-4589-8575-96F649F9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32861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B99DF-7561-4EF3-8AFA-854A78EB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14500"/>
            <a:ext cx="2943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21 SCALED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A4B8C-C205-4EAA-AFD0-7477ABF1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05050"/>
            <a:ext cx="29432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Original feature meanings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New comparable scales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87E50-1A65-4105-87B5-8ED60330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B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4566D-7A63-4144-B6D9-A0B4299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2 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2E50C-CD44-4249-9C58-E1F37487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95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STATE and SEASON</a:t>
            </a:r>
          </a:p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7 one-hot indicators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2E451-74E6-4502-A0CF-9EDDD2F3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representation: 21 + 7 = 28 predictors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9E9B0-166F-4DD5-8665-4AEC53C8CC50}"/>
              </a:ext>
            </a:extLst>
          </p:cNvPr>
          <p:cNvGraphicFramePr/>
          <p:nvPr/>
        </p:nvGraphicFramePr>
        <p:xfrm>
          <a:off xmlns:a="http://schemas.openxmlformats.org/drawingml/2006/main" x="571500" y="4619625"/>
          <a:ext xmlns:a="http://schemas.openxmlformats.org/drawingml/2006/main" cx="11049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952750"/>
                <a:gridCol w="4095750"/>
              </a:tblGrid>
              <a:tr h="357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Adilabad, Kharif 2001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scaling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scaling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CROP_AREA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67,358 hectares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0.2046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TAVG_MEAN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25.8498°C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−0.1383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STATE /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Andhra Pradesh / Kharif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Corresponding indicators =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4514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49A6FC-C776-41D9-B872-E7F95321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DAE preprocessing learns eight numerical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189B0-C524-4FB2-AD5A-E96622B2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7949F-7B8D-4B1A-9F8A-CD95330C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81DAB-85A5-41B3-82EC-89B148D0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Only the 21 standardized numerical fields enter the autoencoder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D0625-77A4-4AE7-A617-046F6B87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1BBF3-86E2-4EC3-84A8-F5A1B931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B03BF-F56B-4066-B4E3-61C25362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203A0-A643-4C15-B253-8B0E30A0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58ADD-C14E-4E7C-AAE2-FD233ED5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15B2E-222E-4DD8-A1C5-58E507A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D0C6E-29E7-4FA7-A8D2-28CB99AA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58149-FB69-4A70-8372-94A44335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4C858-930F-4724-A5FB-379E2CE7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7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AE0CC-36B3-42D6-9FB5-9D3959F1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34AA8-4661-4263-8AB5-C2DA2427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818CF-DFCB-43A8-A51A-41C17FD8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452AC-2E25-4721-8E95-03E4C195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B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2A1CE-AE29-4961-AC25-D0FE0DBE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B755B-15F8-451A-B5A2-44649BB9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Latent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7055B-4AD6-4917-8B4D-A0BAB8AF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96ABD-4D32-4D04-966B-A6549CD0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C57F0-1CF7-438D-9D52-CFEE891B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7399D-3476-4D86-8452-0A5C879F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FF190-108A-4838-9E5C-10135299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FBC71-F45F-46B3-A8DF-0DC6ECFE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35A6D-C071-4242-B116-870DA89B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D143F2-DE1D-421E-82C4-3F7A93AF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7E462-BC57-4A47-A07C-FC1D6780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33650"/>
            <a:ext cx="1714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5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2C9DE-6602-4617-B590-38DF37EF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9550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1"/>
          </a:solidFill>
          <a:ln xmlns:a="http://schemas.openxmlformats.org/drawingml/2006/main" w="9525">
            <a:solidFill>
              <a:srgbClr val="C3D3C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D5CE9C-982D-400F-87AB-5DAB5D66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990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20C3C-4195-4785-BDAC-F20F4A71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481ACF-DD1C-4372-B02F-05084951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Encoder: learn a compact representation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6BCA11-DD7D-4AE6-A0F8-5DDFA2B2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Decoder: reconstruct clean inputs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A9EB16-0255-4476-A587-8FD2DDD7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During training, add Gaussian noise (SD 0.05) to inputs. Keep clean values as reconstruction targets. Export latent features using clean inputs.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66ACE5-541E-459E-83F4-457F8738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8 latent features + 7 category indicators + 1 reconstruction MSE = 16 predictors</a:t>
            </a:r>
          </a:p>
        </p:txBody>
      </p:sp>
    </p:spTree>
    <p:extLst>
      <p:ext uri="{BB962C8B-B14F-4D97-AF65-F5344CB8AC3E}">
        <p14:creationId xmlns:p14="http://schemas.microsoft.com/office/powerpoint/2010/main" val="712739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51DC1-F904-491D-A944-711C809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representation: 21 scaled numerical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64B02-F57C-419C-A8C1-7B60239A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9D88E-79EB-4A9B-978F-7FC8573F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874D7-B1E7-4AF6-8794-0E2E6A74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numeric__CROP_AREA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E2964-A6C9-42A1-B84F-E4BE4483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02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numeric__CENTROID_X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8E209-E34F-4E4E-95F1-1728B167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numeric__CENTROID_Y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44CC0-79C6-4C62-A766-BA74EF7C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numeric__WEATHER_DAY_COUNT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9A56C-6C9B-4A10-9CD4-8058D06B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numeric__TMAX_MEAN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2D9FB-CE35-471F-8986-53773366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numeric__TMIN_MEAN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36AE2-2CA1-4E7B-82D8-C94189C9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numeric__TAVG_MEAN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E7FC7-942B-4CC4-8395-5206E9DB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numeric__VPRES_MEAN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872D1-C3A8-42AF-8D0D-0CBA6F48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numeric__WSPD_MEAN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43B83-AF22-44C2-A2FA-C121D2C1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numeric__PREC_TOTAL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B979C-68BD-4835-B1D9-D0A973FC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numeric__ET0_TOTAL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E5FE4-F719-47B2-83FF-C7424B0E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numeric__RAD_TOTAL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270BC-94AA-4EF3-B62B-FF15C907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02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numeric__RELH_MEAN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BF22E-683F-4F1D-A984-8CEEA20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717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numeric__PS_MEAN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3F66A-3F81-4EFD-BBD6-F5D52748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4317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numeric__GDD_BASE10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72D5E-AC13-4B58-B2EF-59F0C55F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146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numeric__AREA_FRACTION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C005D-E53F-4E7B-A1F2-CA08CF28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numeric__TEMP_RANGE_MEAN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49E61-CB2E-47F2-B101-39747423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576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numeric__WATER_BALANCE_PROXY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AE1EA-D620-4EFB-8E7D-AC1A11DF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numeric__RAIN_PER_GDD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AC5C6-9F75-4F89-9DDC-CA933621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005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numeric__RADIATION_PER_GDD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4F9EA-757F-4023-ADA7-7F35B5B6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numeric__CROP_AREA_LOG1P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3847A-A321-4002-BD9B-3767BDAA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The numeric__ prefix identifies the scaled output. Each column keeps its original feature meaning.</a:t>
            </a:r>
          </a:p>
        </p:txBody>
      </p:sp>
    </p:spTree>
    <p:extLst>
      <p:ext uri="{BB962C8B-B14F-4D97-AF65-F5344CB8AC3E}">
        <p14:creationId xmlns:p14="http://schemas.microsoft.com/office/powerpoint/2010/main" val="7030095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7259A-2B4C-4E68-B7C4-52D021CD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Both versions share seven categorical indicators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79DC0-0CEC-4B10-BF7A-4AFBA26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29E9F-2EA8-4B80-963B-78A37845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FBA24-0666-4EBE-9EED-415C8E2C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categorical__STATE_Andhra Pradesh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E6A09-60DE-437B-BA5D-CFCFB754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categorical__STATE_Karnataka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09802-A6A8-4F41-8083-926940B5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categorical__STATE_Tamil Nadu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EA718-ACA5-4CF4-9E04-B1C57D70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categorical__STATE_Telangana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D76D7-69E5-4F43-9E92-4044CF0C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categorical__SEASON_Kharif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E2889-C8BD-4DC2-B056-8DE3D304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categorical__SEASON_Rabi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899F5-1099-4B25-9EAA-738F7895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categorical__SEASON_Summer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DBDFA-9374-4E6B-9DD1-54EAAC9C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Values are 0 or 1. Training contains four states and three seasons. Autumn and Winter are unseen training seasons, so their season indicators become all zeros in held-out records.</a:t>
            </a:r>
          </a:p>
        </p:txBody>
      </p:sp>
    </p:spTree>
    <p:extLst>
      <p:ext uri="{BB962C8B-B14F-4D97-AF65-F5344CB8AC3E}">
        <p14:creationId xmlns:p14="http://schemas.microsoft.com/office/powerpoint/2010/main" val="13646248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A297B-EAC9-4E75-AF60-EE725F21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DAE representation: all 16 predictor columns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BBF8D-FBCA-457C-8F98-06035AB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88D2D-3D57-448A-B1DA-FC9C8D07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7B73E-E017-4A98-AD9B-746D2607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8 learned numerical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A019C-06AB-4E98-8DBF-4AE62514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ED726-A9E5-4F7A-BBF5-B2F31AF5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EC40C-4737-4DF2-A46A-FCD98C4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F9BC3-C520-4217-AA89-3F561F8F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C33F8-187C-4B47-943B-EDAAD297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9C36C-E13D-4900-B5E5-3B05DECB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E8E58-D18E-42B8-B8ED-5C0FDF2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61B0F-63EE-4A0E-BACC-1EEAC362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AE_LATENT_08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BEBB1-0100-47EA-86A7-5FBEAA98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7 unchanged category indicators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47B1F-D584-4EA8-A88F-A7B1B4BA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716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categorical__STATE_Andhra Pradesh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FAEDE-B1B8-43F3-8C89-EACAA76F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categorical__STATE_Karnataka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DD2B1-1F39-4664-8938-FDF91E67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categorical__STATE_Tamil Nadu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9753B-9051-4962-A7CC-2FD16634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categorical__STATE_Telangana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D1EB8-E839-4D38-A83A-AD784A8E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categorical__SEASON_Kharif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508B5-9D66-4BA7-AC1D-F0817D18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categorical__SEASON_Rabi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9237D-40D3-4555-8BE5-6F1334BD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categorical__SEASON_Summer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77C3E-2841-477D-B421-35360589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AE_RECONSTRUCTION_MSE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553A0-B15B-421B-B126-AD47BBF5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The original 21 numerical columns are replaced. YIELD and metadata remain separate from predictors.</a:t>
            </a:r>
          </a:p>
        </p:txBody>
      </p:sp>
    </p:spTree>
    <p:extLst>
      <p:ext uri="{BB962C8B-B14F-4D97-AF65-F5344CB8AC3E}">
        <p14:creationId xmlns:p14="http://schemas.microsoft.com/office/powerpoint/2010/main" val="13886082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0FC48-E1BF-481D-8AA7-FFCAEDBF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Why we created two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A40A0-2313-466F-9B8F-F7AE697E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4F385-8460-4130-883B-CBCD8617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27189-0079-47EB-8D6C-410A7B1AB41D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00500"/>
                <a:gridCol w="4000500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Difference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Standard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Numerical information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21 scaled original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8 learned combinations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Named physical measurements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Latent values have no fixed physical label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Total predictor 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Additional feature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Reconstruction MSE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Rows, labels and time splits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Identical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Identical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A9C15-6673-4745-9466-71805AAB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Standard provides the conventional reference. DAE tests whether compact learned features help. Compression can discard useful information, so fewer columns do not guarantee better prediction.</a:t>
            </a:r>
          </a:p>
        </p:txBody>
      </p:sp>
    </p:spTree>
    <p:extLst>
      <p:ext uri="{BB962C8B-B14F-4D97-AF65-F5344CB8AC3E}">
        <p14:creationId xmlns:p14="http://schemas.microsoft.com/office/powerpoint/2010/main" val="5165297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3422F-785A-45EB-8C81-B3C05057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The same observation has two preprocessed 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91406-3A38-49E3-9E9C-A27E9579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27008-B432-41F7-8B76-9610922A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B9663-0016-4409-9AE4-4990C7FCF459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905250"/>
                <a:gridCol w="39052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Adilabad, Kharif 2001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Standard representation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DAE representation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Numerical 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21 scaled named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AE_LATENT_01 … AE_LATENT_08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Example numerical values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CROP_AREA: 0.2046</a:t>
                      </a:r>
                    </a:p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TAVG_MEAN: −0.1383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LATENT_01: −0.9492</a:t>
                      </a:r>
                    </a:p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LATENT_02: −1.5666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State and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7 one-hot indicators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Same 7 one-hot indicators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Additional score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AE_RECONSTRUCTION_MSE: 0.01388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Target, kept separate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YIELD: 2.231999 t/ha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Same YIELD: 2.231999 t/ha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F369E-1BCE-4183-9AC2-CD1F5557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Latent values combine input patterns. They do not individually mean rainfall or temperature.</a:t>
            </a:r>
          </a:p>
        </p:txBody>
      </p:sp>
    </p:spTree>
    <p:extLst>
      <p:ext uri="{BB962C8B-B14F-4D97-AF65-F5344CB8AC3E}">
        <p14:creationId xmlns:p14="http://schemas.microsoft.com/office/powerpoint/2010/main" val="8509317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67072-FEBF-4E7F-A50C-DD6B7A2F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Training-ready dataset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17FB4-542F-4B8F-8412-5E593F99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RICE DATASET FEATURE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DB9CC-5611-4BA2-87A5-BD16202C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5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A2575-199A-4C9A-AF45-221FCC457D93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2000250"/>
                <a:gridCol w="1809750"/>
                <a:gridCol w="2190750"/>
              </a:tblGrid>
              <a:tr h="49666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 files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 per file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Predictors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Stored columns</a:t>
                      </a:r>
                    </a:p>
                  </a:txBody>
                  <a:tcPr marL="91440" marR="91440" marT="45720" marB="45720">
                    <a:solidFill>
                      <a:srgbClr val="163C30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standard/train.csv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1,485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standard/validation.csv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245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standard/test.csv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autoencoder/train.csv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1,485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autoencoder/validation.csv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autoencoder/test.csv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288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5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5E443-6274-4E37-9E54-12C90B37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Each CSV also stores YIELD and five metadata fields. manifest.json lists the exact predictor columns. Select inputs explicitly and keep the partitions separate.</a:t>
            </a:r>
          </a:p>
        </p:txBody>
      </p:sp>
    </p:spTree>
    <p:extLst>
      <p:ext uri="{BB962C8B-B14F-4D97-AF65-F5344CB8AC3E}">
        <p14:creationId xmlns:p14="http://schemas.microsoft.com/office/powerpoint/2010/main" val="496661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2026-10-09T02:54:29.4230000Z</dcterms:created>
  <dcterms:modified xsi:type="dcterms:W3CDTF">2026-10-09T02:54:29.4240000Z</dcterms:modified>
</coreProperties>
</file>